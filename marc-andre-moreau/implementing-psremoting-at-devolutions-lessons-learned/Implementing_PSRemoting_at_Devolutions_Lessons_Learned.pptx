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97" r:id="rId5"/>
    <p:sldMasterId id="2147483695" r:id="rId6"/>
    <p:sldMasterId id="2147483684" r:id="rId7"/>
    <p:sldMasterId id="2147483702" r:id="rId8"/>
  </p:sldMasterIdLst>
  <p:notesMasterIdLst>
    <p:notesMasterId r:id="rId41"/>
  </p:notesMasterIdLst>
  <p:handoutMasterIdLst>
    <p:handoutMasterId r:id="rId42"/>
  </p:handoutMasterIdLst>
  <p:sldIdLst>
    <p:sldId id="276" r:id="rId9"/>
    <p:sldId id="259" r:id="rId10"/>
    <p:sldId id="269" r:id="rId11"/>
    <p:sldId id="270" r:id="rId12"/>
    <p:sldId id="278" r:id="rId13"/>
    <p:sldId id="386" r:id="rId14"/>
    <p:sldId id="281" r:id="rId15"/>
    <p:sldId id="407" r:id="rId16"/>
    <p:sldId id="384" r:id="rId17"/>
    <p:sldId id="361" r:id="rId18"/>
    <p:sldId id="363" r:id="rId19"/>
    <p:sldId id="391" r:id="rId20"/>
    <p:sldId id="392" r:id="rId21"/>
    <p:sldId id="322" r:id="rId22"/>
    <p:sldId id="293" r:id="rId23"/>
    <p:sldId id="393" r:id="rId24"/>
    <p:sldId id="329" r:id="rId25"/>
    <p:sldId id="324" r:id="rId26"/>
    <p:sldId id="400" r:id="rId27"/>
    <p:sldId id="387" r:id="rId28"/>
    <p:sldId id="401" r:id="rId29"/>
    <p:sldId id="402" r:id="rId30"/>
    <p:sldId id="403" r:id="rId31"/>
    <p:sldId id="404" r:id="rId32"/>
    <p:sldId id="405" r:id="rId33"/>
    <p:sldId id="381" r:id="rId34"/>
    <p:sldId id="382" r:id="rId35"/>
    <p:sldId id="388" r:id="rId36"/>
    <p:sldId id="383" r:id="rId37"/>
    <p:sldId id="399" r:id="rId38"/>
    <p:sldId id="408" r:id="rId39"/>
    <p:sldId id="265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fore the session" id="{9248E0E9-B469-42C5-B521-34DBB63F9E0C}">
          <p14:sldIdLst>
            <p14:sldId id="276"/>
            <p14:sldId id="259"/>
            <p14:sldId id="269"/>
            <p14:sldId id="270"/>
            <p14:sldId id="278"/>
            <p14:sldId id="386"/>
          </p14:sldIdLst>
        </p14:section>
        <p14:section name="The session" id="{9BCE8471-468A-4538-82B3-E4E62B0A593E}">
          <p14:sldIdLst>
            <p14:sldId id="281"/>
            <p14:sldId id="407"/>
            <p14:sldId id="384"/>
          </p14:sldIdLst>
        </p14:section>
        <p14:section name="PSRemoting Interactive Session Launching" id="{D8DC805D-6958-4EE7-AB7A-36A5A5FEED4D}">
          <p14:sldIdLst>
            <p14:sldId id="361"/>
            <p14:sldId id="363"/>
            <p14:sldId id="391"/>
            <p14:sldId id="392"/>
            <p14:sldId id="322"/>
          </p14:sldIdLst>
        </p14:section>
        <p14:section name="PSRemoting over SSH and Win32-OpenSSH" id="{AE09920E-0063-4768-A406-9CFC18919311}">
          <p14:sldIdLst>
            <p14:sldId id="293"/>
            <p14:sldId id="393"/>
            <p14:sldId id="329"/>
            <p14:sldId id="324"/>
            <p14:sldId id="400"/>
          </p14:sldIdLst>
        </p14:section>
        <p14:section name="PowerShell SDK and Local PSRemoting" id="{97CA23D0-8CEC-456E-91B0-8B74C769C303}">
          <p14:sldIdLst>
            <p14:sldId id="387"/>
            <p14:sldId id="401"/>
            <p14:sldId id="402"/>
            <p14:sldId id="403"/>
            <p14:sldId id="404"/>
            <p14:sldId id="405"/>
          </p14:sldIdLst>
        </p14:section>
        <p14:section name="PSRemoting in the Browser" id="{B7505A53-DB9A-44C5-93AC-098505D296DB}">
          <p14:sldIdLst>
            <p14:sldId id="381"/>
            <p14:sldId id="382"/>
            <p14:sldId id="388"/>
            <p14:sldId id="383"/>
          </p14:sldIdLst>
        </p14:section>
        <p14:section name="Lessons Learned" id="{5D0D72C4-C9E1-4FF4-B4D2-7684EFE4E3A5}">
          <p14:sldIdLst>
            <p14:sldId id="399"/>
            <p14:sldId id="408"/>
          </p14:sldIdLst>
        </p14:section>
        <p14:section name="Lessons Learned" id="{299CC000-072E-4DE5-B14D-FA34033D1365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4ED"/>
    <a:srgbClr val="3B2A47"/>
    <a:srgbClr val="3B2B46"/>
    <a:srgbClr val="346297"/>
    <a:srgbClr val="000000"/>
    <a:srgbClr val="FFFFFF"/>
    <a:srgbClr val="346296"/>
    <a:srgbClr val="E64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09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presProps" Target="pres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tableStyles" Target="tableStyles.xml"/><Relationship Id="rId20" Type="http://schemas.openxmlformats.org/officeDocument/2006/relationships/slide" Target="slides/slide12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-André Moreau" userId="d5052b6c-3fb4-48de-8d13-16e608076a66" providerId="ADAL" clId="{7FA9D3C6-CB25-4AFE-8721-EA4978261136}"/>
    <pc:docChg chg="undo custSel addSld delSld modSld sldOrd delMainMaster addSection modSection">
      <pc:chgData name="Marc-André Moreau" userId="d5052b6c-3fb4-48de-8d13-16e608076a66" providerId="ADAL" clId="{7FA9D3C6-CB25-4AFE-8721-EA4978261136}" dt="2026-06-02T09:52:11.309" v="16282" actId="20577"/>
      <pc:docMkLst>
        <pc:docMk/>
      </pc:docMkLst>
      <pc:sldChg chg="modSp mod">
        <pc:chgData name="Marc-André Moreau" userId="d5052b6c-3fb4-48de-8d13-16e608076a66" providerId="ADAL" clId="{7FA9D3C6-CB25-4AFE-8721-EA4978261136}" dt="2026-05-31T09:03:34.592" v="15386" actId="20577"/>
        <pc:sldMkLst>
          <pc:docMk/>
          <pc:sldMk cId="3084481864" sldId="281"/>
        </pc:sldMkLst>
        <pc:spChg chg="mod">
          <ac:chgData name="Marc-André Moreau" userId="d5052b6c-3fb4-48de-8d13-16e608076a66" providerId="ADAL" clId="{7FA9D3C6-CB25-4AFE-8721-EA4978261136}" dt="2026-05-31T09:03:34.592" v="15386" actId="20577"/>
          <ac:spMkLst>
            <pc:docMk/>
            <pc:sldMk cId="3084481864" sldId="281"/>
            <ac:spMk id="5" creationId="{93312970-1382-905E-DF3A-5D367E6E7736}"/>
          </ac:spMkLst>
        </pc:spChg>
      </pc:sldChg>
      <pc:sldChg chg="modSp mod">
        <pc:chgData name="Marc-André Moreau" userId="d5052b6c-3fb4-48de-8d13-16e608076a66" providerId="ADAL" clId="{7FA9D3C6-CB25-4AFE-8721-EA4978261136}" dt="2026-05-31T07:59:27.743" v="14026" actId="20577"/>
        <pc:sldMkLst>
          <pc:docMk/>
          <pc:sldMk cId="646259045" sldId="293"/>
        </pc:sldMkLst>
        <pc:spChg chg="mod">
          <ac:chgData name="Marc-André Moreau" userId="d5052b6c-3fb4-48de-8d13-16e608076a66" providerId="ADAL" clId="{7FA9D3C6-CB25-4AFE-8721-EA4978261136}" dt="2026-05-31T07:59:27.743" v="14026" actId="20577"/>
          <ac:spMkLst>
            <pc:docMk/>
            <pc:sldMk cId="646259045" sldId="293"/>
            <ac:spMk id="20" creationId="{00000000-0000-0000-0000-000000000000}"/>
          </ac:spMkLst>
        </pc:spChg>
        <pc:spChg chg="mod">
          <ac:chgData name="Marc-André Moreau" userId="d5052b6c-3fb4-48de-8d13-16e608076a66" providerId="ADAL" clId="{7FA9D3C6-CB25-4AFE-8721-EA4978261136}" dt="2026-05-29T22:13:40.287" v="5258" actId="20577"/>
          <ac:spMkLst>
            <pc:docMk/>
            <pc:sldMk cId="646259045" sldId="293"/>
            <ac:spMk id="21" creationId="{00000000-0000-0000-0000-000000000000}"/>
          </ac:spMkLst>
        </pc:spChg>
      </pc:sldChg>
      <pc:sldChg chg="delSp mod">
        <pc:chgData name="Marc-André Moreau" userId="d5052b6c-3fb4-48de-8d13-16e608076a66" providerId="ADAL" clId="{7FA9D3C6-CB25-4AFE-8721-EA4978261136}" dt="2026-05-29T22:40:23.761" v="10405" actId="478"/>
        <pc:sldMkLst>
          <pc:docMk/>
          <pc:sldMk cId="1404237212" sldId="322"/>
        </pc:sldMkLst>
      </pc:sldChg>
      <pc:sldChg chg="modSp mod">
        <pc:chgData name="Marc-André Moreau" userId="d5052b6c-3fb4-48de-8d13-16e608076a66" providerId="ADAL" clId="{7FA9D3C6-CB25-4AFE-8721-EA4978261136}" dt="2026-05-29T21:49:55.424" v="1570" actId="20577"/>
        <pc:sldMkLst>
          <pc:docMk/>
          <pc:sldMk cId="1171975155" sldId="361"/>
        </pc:sldMkLst>
        <pc:spChg chg="mod">
          <ac:chgData name="Marc-André Moreau" userId="d5052b6c-3fb4-48de-8d13-16e608076a66" providerId="ADAL" clId="{7FA9D3C6-CB25-4AFE-8721-EA4978261136}" dt="2026-05-29T21:49:55.424" v="1570" actId="20577"/>
          <ac:spMkLst>
            <pc:docMk/>
            <pc:sldMk cId="1171975155" sldId="361"/>
            <ac:spMk id="20" creationId="{AB69E819-6C68-2FB4-1D2E-60668E474D8F}"/>
          </ac:spMkLst>
        </pc:spChg>
        <pc:spChg chg="mod">
          <ac:chgData name="Marc-André Moreau" userId="d5052b6c-3fb4-48de-8d13-16e608076a66" providerId="ADAL" clId="{7FA9D3C6-CB25-4AFE-8721-EA4978261136}" dt="2026-05-29T21:41:04.149" v="178" actId="20577"/>
          <ac:spMkLst>
            <pc:docMk/>
            <pc:sldMk cId="1171975155" sldId="361"/>
            <ac:spMk id="21" creationId="{94BCC253-0276-64D3-F478-F7E1F06B755B}"/>
          </ac:spMkLst>
        </pc:spChg>
      </pc:sldChg>
      <pc:sldChg chg="delSp modSp mod">
        <pc:chgData name="Marc-André Moreau" userId="d5052b6c-3fb4-48de-8d13-16e608076a66" providerId="ADAL" clId="{7FA9D3C6-CB25-4AFE-8721-EA4978261136}" dt="2026-05-29T22:02:49.975" v="3522" actId="20577"/>
        <pc:sldMkLst>
          <pc:docMk/>
          <pc:sldMk cId="3033800877" sldId="381"/>
        </pc:sldMkLst>
        <pc:spChg chg="mod">
          <ac:chgData name="Marc-André Moreau" userId="d5052b6c-3fb4-48de-8d13-16e608076a66" providerId="ADAL" clId="{7FA9D3C6-CB25-4AFE-8721-EA4978261136}" dt="2026-05-29T22:02:49.975" v="3522" actId="20577"/>
          <ac:spMkLst>
            <pc:docMk/>
            <pc:sldMk cId="3033800877" sldId="381"/>
            <ac:spMk id="7" creationId="{31F10735-0EA2-46DD-91EF-98437C9688E8}"/>
          </ac:spMkLst>
        </pc:spChg>
      </pc:sldChg>
      <pc:sldChg chg="modSp mod">
        <pc:chgData name="Marc-André Moreau" userId="d5052b6c-3fb4-48de-8d13-16e608076a66" providerId="ADAL" clId="{7FA9D3C6-CB25-4AFE-8721-EA4978261136}" dt="2026-05-29T22:10:13.920" v="5005" actId="20577"/>
        <pc:sldMkLst>
          <pc:docMk/>
          <pc:sldMk cId="2404822227" sldId="382"/>
        </pc:sldMkLst>
        <pc:spChg chg="mod">
          <ac:chgData name="Marc-André Moreau" userId="d5052b6c-3fb4-48de-8d13-16e608076a66" providerId="ADAL" clId="{7FA9D3C6-CB25-4AFE-8721-EA4978261136}" dt="2026-05-29T22:03:49.919" v="3570" actId="20577"/>
          <ac:spMkLst>
            <pc:docMk/>
            <pc:sldMk cId="2404822227" sldId="382"/>
            <ac:spMk id="2" creationId="{BF32E208-1318-0A6B-D1EB-5B673FB56B7E}"/>
          </ac:spMkLst>
        </pc:spChg>
        <pc:spChg chg="mod">
          <ac:chgData name="Marc-André Moreau" userId="d5052b6c-3fb4-48de-8d13-16e608076a66" providerId="ADAL" clId="{7FA9D3C6-CB25-4AFE-8721-EA4978261136}" dt="2026-05-29T22:10:13.920" v="5005" actId="20577"/>
          <ac:spMkLst>
            <pc:docMk/>
            <pc:sldMk cId="2404822227" sldId="382"/>
            <ac:spMk id="3" creationId="{97F4D7BC-042C-0215-D537-5FFA00CE7CEA}"/>
          </ac:spMkLst>
        </pc:spChg>
      </pc:sldChg>
      <pc:sldChg chg="modSp mod">
        <pc:chgData name="Marc-André Moreau" userId="d5052b6c-3fb4-48de-8d13-16e608076a66" providerId="ADAL" clId="{7FA9D3C6-CB25-4AFE-8721-EA4978261136}" dt="2026-05-29T22:12:31.259" v="5226" actId="20577"/>
        <pc:sldMkLst>
          <pc:docMk/>
          <pc:sldMk cId="1378652299" sldId="383"/>
        </pc:sldMkLst>
        <pc:spChg chg="mod">
          <ac:chgData name="Marc-André Moreau" userId="d5052b6c-3fb4-48de-8d13-16e608076a66" providerId="ADAL" clId="{7FA9D3C6-CB25-4AFE-8721-EA4978261136}" dt="2026-05-29T22:12:31.259" v="5226" actId="20577"/>
          <ac:spMkLst>
            <pc:docMk/>
            <pc:sldMk cId="1378652299" sldId="383"/>
            <ac:spMk id="32" creationId="{732D1F33-FC2A-4B15-B91D-0FA4257EA7F2}"/>
          </ac:spMkLst>
        </pc:spChg>
      </pc:sldChg>
      <pc:sldChg chg="modSp mod">
        <pc:chgData name="Marc-André Moreau" userId="d5052b6c-3fb4-48de-8d13-16e608076a66" providerId="ADAL" clId="{7FA9D3C6-CB25-4AFE-8721-EA4978261136}" dt="2026-05-31T07:59:44.040" v="14063" actId="20577"/>
        <pc:sldMkLst>
          <pc:docMk/>
          <pc:sldMk cId="3113027200" sldId="384"/>
        </pc:sldMkLst>
        <pc:spChg chg="mod">
          <ac:chgData name="Marc-André Moreau" userId="d5052b6c-3fb4-48de-8d13-16e608076a66" providerId="ADAL" clId="{7FA9D3C6-CB25-4AFE-8721-EA4978261136}" dt="2026-05-31T07:59:44.040" v="14063" actId="20577"/>
          <ac:spMkLst>
            <pc:docMk/>
            <pc:sldMk cId="3113027200" sldId="384"/>
            <ac:spMk id="3" creationId="{76426D8A-9D48-22B8-4BB6-078DBCAE29A5}"/>
          </ac:spMkLst>
        </pc:spChg>
      </pc:sldChg>
      <pc:sldChg chg="add">
        <pc:chgData name="Marc-André Moreau" userId="d5052b6c-3fb4-48de-8d13-16e608076a66" providerId="ADAL" clId="{7FA9D3C6-CB25-4AFE-8721-EA4978261136}" dt="2026-05-10T12:38:57.987" v="0"/>
        <pc:sldMkLst>
          <pc:docMk/>
          <pc:sldMk cId="1397558092" sldId="386"/>
        </pc:sldMkLst>
      </pc:sldChg>
      <pc:sldChg chg="modSp add mod ord">
        <pc:chgData name="Marc-André Moreau" userId="d5052b6c-3fb4-48de-8d13-16e608076a66" providerId="ADAL" clId="{7FA9D3C6-CB25-4AFE-8721-EA4978261136}" dt="2026-05-29T21:59:09.712" v="3083" actId="20577"/>
        <pc:sldMkLst>
          <pc:docMk/>
          <pc:sldMk cId="3590273742" sldId="387"/>
        </pc:sldMkLst>
        <pc:spChg chg="mod">
          <ac:chgData name="Marc-André Moreau" userId="d5052b6c-3fb4-48de-8d13-16e608076a66" providerId="ADAL" clId="{7FA9D3C6-CB25-4AFE-8721-EA4978261136}" dt="2026-05-29T21:59:09.712" v="3083" actId="20577"/>
          <ac:spMkLst>
            <pc:docMk/>
            <pc:sldMk cId="3590273742" sldId="387"/>
            <ac:spMk id="20" creationId="{CB3FFD7C-8E02-C464-80BF-E93C0CE88069}"/>
          </ac:spMkLst>
        </pc:spChg>
        <pc:spChg chg="mod">
          <ac:chgData name="Marc-André Moreau" userId="d5052b6c-3fb4-48de-8d13-16e608076a66" providerId="ADAL" clId="{7FA9D3C6-CB25-4AFE-8721-EA4978261136}" dt="2026-05-29T21:40:55.778" v="169" actId="20577"/>
          <ac:spMkLst>
            <pc:docMk/>
            <pc:sldMk cId="3590273742" sldId="387"/>
            <ac:spMk id="21" creationId="{31F6CA0E-6913-3959-E686-C9F79C674761}"/>
          </ac:spMkLst>
        </pc:spChg>
      </pc:sldChg>
      <pc:sldChg chg="modSp add mod">
        <pc:chgData name="Marc-André Moreau" userId="d5052b6c-3fb4-48de-8d13-16e608076a66" providerId="ADAL" clId="{7FA9D3C6-CB25-4AFE-8721-EA4978261136}" dt="2026-05-29T22:11:55.540" v="5195" actId="20577"/>
        <pc:sldMkLst>
          <pc:docMk/>
          <pc:sldMk cId="3884089961" sldId="388"/>
        </pc:sldMkLst>
        <pc:spChg chg="mod">
          <ac:chgData name="Marc-André Moreau" userId="d5052b6c-3fb4-48de-8d13-16e608076a66" providerId="ADAL" clId="{7FA9D3C6-CB25-4AFE-8721-EA4978261136}" dt="2026-05-29T22:04:06.749" v="3595" actId="20577"/>
          <ac:spMkLst>
            <pc:docMk/>
            <pc:sldMk cId="3884089961" sldId="388"/>
            <ac:spMk id="2" creationId="{99CA5DAC-AD24-4CD7-8746-DC08C4FE3D6B}"/>
          </ac:spMkLst>
        </pc:spChg>
        <pc:spChg chg="mod">
          <ac:chgData name="Marc-André Moreau" userId="d5052b6c-3fb4-48de-8d13-16e608076a66" providerId="ADAL" clId="{7FA9D3C6-CB25-4AFE-8721-EA4978261136}" dt="2026-05-29T22:11:55.540" v="5195" actId="20577"/>
          <ac:spMkLst>
            <pc:docMk/>
            <pc:sldMk cId="3884089961" sldId="388"/>
            <ac:spMk id="3" creationId="{3408461F-C472-D969-C6FB-39F00B61A4D8}"/>
          </ac:spMkLst>
        </pc:spChg>
      </pc:sldChg>
      <pc:sldChg chg="modSp add mod modClrScheme chgLayout">
        <pc:chgData name="Marc-André Moreau" userId="d5052b6c-3fb4-48de-8d13-16e608076a66" providerId="ADAL" clId="{7FA9D3C6-CB25-4AFE-8721-EA4978261136}" dt="2026-05-31T08:03:07.400" v="14068" actId="27636"/>
        <pc:sldMkLst>
          <pc:docMk/>
          <pc:sldMk cId="1105242498" sldId="391"/>
        </pc:sldMkLst>
        <pc:spChg chg="mod ord">
          <ac:chgData name="Marc-André Moreau" userId="d5052b6c-3fb4-48de-8d13-16e608076a66" providerId="ADAL" clId="{7FA9D3C6-CB25-4AFE-8721-EA4978261136}" dt="2026-05-31T08:03:07.387" v="14067"/>
          <ac:spMkLst>
            <pc:docMk/>
            <pc:sldMk cId="1105242498" sldId="391"/>
            <ac:spMk id="4" creationId="{2B167248-C99C-E892-89E1-4CBB81F02F90}"/>
          </ac:spMkLst>
        </pc:spChg>
        <pc:spChg chg="mod ord">
          <ac:chgData name="Marc-André Moreau" userId="d5052b6c-3fb4-48de-8d13-16e608076a66" providerId="ADAL" clId="{7FA9D3C6-CB25-4AFE-8721-EA4978261136}" dt="2026-05-31T08:03:07.400" v="14068" actId="27636"/>
          <ac:spMkLst>
            <pc:docMk/>
            <pc:sldMk cId="1105242498" sldId="391"/>
            <ac:spMk id="5" creationId="{2CACAFC7-78CB-98F9-FEF3-D3E8C9FF6E6F}"/>
          </ac:spMkLst>
        </pc:spChg>
      </pc:sldChg>
      <pc:sldChg chg="modSp add mod modClrScheme chgLayout">
        <pc:chgData name="Marc-André Moreau" userId="d5052b6c-3fb4-48de-8d13-16e608076a66" providerId="ADAL" clId="{7FA9D3C6-CB25-4AFE-8721-EA4978261136}" dt="2026-05-31T08:07:48.507" v="14073" actId="27636"/>
        <pc:sldMkLst>
          <pc:docMk/>
          <pc:sldMk cId="151876264" sldId="392"/>
        </pc:sldMkLst>
        <pc:spChg chg="mod ord">
          <ac:chgData name="Marc-André Moreau" userId="d5052b6c-3fb4-48de-8d13-16e608076a66" providerId="ADAL" clId="{7FA9D3C6-CB25-4AFE-8721-EA4978261136}" dt="2026-05-31T08:07:48.495" v="14072"/>
          <ac:spMkLst>
            <pc:docMk/>
            <pc:sldMk cId="151876264" sldId="392"/>
            <ac:spMk id="4" creationId="{2B167248-C99C-E892-89E1-4CBB81F02F90}"/>
          </ac:spMkLst>
        </pc:spChg>
        <pc:spChg chg="mod ord">
          <ac:chgData name="Marc-André Moreau" userId="d5052b6c-3fb4-48de-8d13-16e608076a66" providerId="ADAL" clId="{7FA9D3C6-CB25-4AFE-8721-EA4978261136}" dt="2026-05-31T08:07:48.507" v="14073" actId="27636"/>
          <ac:spMkLst>
            <pc:docMk/>
            <pc:sldMk cId="151876264" sldId="392"/>
            <ac:spMk id="5" creationId="{2CACAFC7-78CB-98F9-FEF3-D3E8C9FF6E6F}"/>
          </ac:spMkLst>
        </pc:spChg>
      </pc:sldChg>
      <pc:sldChg chg="modSp add mod modClrScheme chgLayout">
        <pc:chgData name="Marc-André Moreau" userId="d5052b6c-3fb4-48de-8d13-16e608076a66" providerId="ADAL" clId="{7FA9D3C6-CB25-4AFE-8721-EA4978261136}" dt="2026-05-31T08:10:02.982" v="14078" actId="27636"/>
        <pc:sldMkLst>
          <pc:docMk/>
          <pc:sldMk cId="48034767" sldId="393"/>
        </pc:sldMkLst>
        <pc:spChg chg="mod ord">
          <ac:chgData name="Marc-André Moreau" userId="d5052b6c-3fb4-48de-8d13-16e608076a66" providerId="ADAL" clId="{7FA9D3C6-CB25-4AFE-8721-EA4978261136}" dt="2026-05-31T08:10:02.960" v="14077"/>
          <ac:spMkLst>
            <pc:docMk/>
            <pc:sldMk cId="48034767" sldId="393"/>
            <ac:spMk id="4" creationId="{2B167248-C99C-E892-89E1-4CBB81F02F90}"/>
          </ac:spMkLst>
        </pc:spChg>
        <pc:spChg chg="mod ord">
          <ac:chgData name="Marc-André Moreau" userId="d5052b6c-3fb4-48de-8d13-16e608076a66" providerId="ADAL" clId="{7FA9D3C6-CB25-4AFE-8721-EA4978261136}" dt="2026-05-31T08:10:02.982" v="14078" actId="27636"/>
          <ac:spMkLst>
            <pc:docMk/>
            <pc:sldMk cId="48034767" sldId="393"/>
            <ac:spMk id="5" creationId="{2CACAFC7-78CB-98F9-FEF3-D3E8C9FF6E6F}"/>
          </ac:spMkLst>
        </pc:spChg>
      </pc:sldChg>
      <pc:sldChg chg="add">
        <pc:chgData name="Marc-André Moreau" userId="d5052b6c-3fb4-48de-8d13-16e608076a66" providerId="ADAL" clId="{7FA9D3C6-CB25-4AFE-8721-EA4978261136}" dt="2026-05-31T08:15:21.629" v="14105"/>
        <pc:sldMkLst>
          <pc:docMk/>
          <pc:sldMk cId="2912093908" sldId="399"/>
        </pc:sldMkLst>
      </pc:sldChg>
      <pc:sldChg chg="add">
        <pc:chgData name="Marc-André Moreau" userId="d5052b6c-3fb4-48de-8d13-16e608076a66" providerId="ADAL" clId="{7FA9D3C6-CB25-4AFE-8721-EA4978261136}" dt="2026-05-31T08:16:35.436" v="14107"/>
        <pc:sldMkLst>
          <pc:docMk/>
          <pc:sldMk cId="2969114908" sldId="400"/>
        </pc:sldMkLst>
      </pc:sldChg>
      <pc:sldChg chg="modSp add mod">
        <pc:chgData name="Marc-André Moreau" userId="d5052b6c-3fb4-48de-8d13-16e608076a66" providerId="ADAL" clId="{7FA9D3C6-CB25-4AFE-8721-EA4978261136}" dt="2026-05-31T09:35:19.218" v="15408" actId="20577"/>
        <pc:sldMkLst>
          <pc:docMk/>
          <pc:sldMk cId="3651189708" sldId="401"/>
        </pc:sldMkLst>
        <pc:spChg chg="mod">
          <ac:chgData name="Marc-André Moreau" userId="d5052b6c-3fb4-48de-8d13-16e608076a66" providerId="ADAL" clId="{7FA9D3C6-CB25-4AFE-8721-EA4978261136}" dt="2026-05-31T09:35:19.218" v="15408" actId="20577"/>
          <ac:spMkLst>
            <pc:docMk/>
            <pc:sldMk cId="3651189708" sldId="401"/>
            <ac:spMk id="5" creationId="{2CACAFC7-78CB-98F9-FEF3-D3E8C9FF6E6F}"/>
          </ac:spMkLst>
        </pc:spChg>
      </pc:sldChg>
      <pc:sldChg chg="add">
        <pc:chgData name="Marc-André Moreau" userId="d5052b6c-3fb4-48de-8d13-16e608076a66" providerId="ADAL" clId="{7FA9D3C6-CB25-4AFE-8721-EA4978261136}" dt="2026-05-31T08:20:03.488" v="14115"/>
        <pc:sldMkLst>
          <pc:docMk/>
          <pc:sldMk cId="2008858000" sldId="402"/>
        </pc:sldMkLst>
      </pc:sldChg>
      <pc:sldChg chg="modSp add mod">
        <pc:chgData name="Marc-André Moreau" userId="d5052b6c-3fb4-48de-8d13-16e608076a66" providerId="ADAL" clId="{7FA9D3C6-CB25-4AFE-8721-EA4978261136}" dt="2026-05-31T08:20:09.740" v="14119" actId="27636"/>
        <pc:sldMkLst>
          <pc:docMk/>
          <pc:sldMk cId="622359228" sldId="403"/>
        </pc:sldMkLst>
        <pc:spChg chg="mod">
          <ac:chgData name="Marc-André Moreau" userId="d5052b6c-3fb4-48de-8d13-16e608076a66" providerId="ADAL" clId="{7FA9D3C6-CB25-4AFE-8721-EA4978261136}" dt="2026-05-31T08:20:09.740" v="14119" actId="27636"/>
          <ac:spMkLst>
            <pc:docMk/>
            <pc:sldMk cId="622359228" sldId="403"/>
            <ac:spMk id="5" creationId="{2CACAFC7-78CB-98F9-FEF3-D3E8C9FF6E6F}"/>
          </ac:spMkLst>
        </pc:spChg>
      </pc:sldChg>
      <pc:sldChg chg="modSp add mod">
        <pc:chgData name="Marc-André Moreau" userId="d5052b6c-3fb4-48de-8d13-16e608076a66" providerId="ADAL" clId="{7FA9D3C6-CB25-4AFE-8721-EA4978261136}" dt="2026-05-31T08:35:30.950" v="14122" actId="27636"/>
        <pc:sldMkLst>
          <pc:docMk/>
          <pc:sldMk cId="440732509" sldId="404"/>
        </pc:sldMkLst>
        <pc:spChg chg="mod">
          <ac:chgData name="Marc-André Moreau" userId="d5052b6c-3fb4-48de-8d13-16e608076a66" providerId="ADAL" clId="{7FA9D3C6-CB25-4AFE-8721-EA4978261136}" dt="2026-05-31T08:35:30.950" v="14122" actId="27636"/>
          <ac:spMkLst>
            <pc:docMk/>
            <pc:sldMk cId="440732509" sldId="404"/>
            <ac:spMk id="5" creationId="{2CACAFC7-78CB-98F9-FEF3-D3E8C9FF6E6F}"/>
          </ac:spMkLst>
        </pc:spChg>
      </pc:sldChg>
      <pc:sldChg chg="modSp add mod">
        <pc:chgData name="Marc-André Moreau" userId="d5052b6c-3fb4-48de-8d13-16e608076a66" providerId="ADAL" clId="{7FA9D3C6-CB25-4AFE-8721-EA4978261136}" dt="2026-05-31T09:44:46.719" v="15421" actId="20577"/>
        <pc:sldMkLst>
          <pc:docMk/>
          <pc:sldMk cId="45832049" sldId="405"/>
        </pc:sldMkLst>
        <pc:spChg chg="mod">
          <ac:chgData name="Marc-André Moreau" userId="d5052b6c-3fb4-48de-8d13-16e608076a66" providerId="ADAL" clId="{7FA9D3C6-CB25-4AFE-8721-EA4978261136}" dt="2026-05-31T08:50:37.075" v="14426" actId="20577"/>
          <ac:spMkLst>
            <pc:docMk/>
            <pc:sldMk cId="45832049" sldId="405"/>
            <ac:spMk id="4" creationId="{CC02A2AC-643C-3A87-2C02-42EF7DDC4A9B}"/>
          </ac:spMkLst>
        </pc:spChg>
        <pc:spChg chg="mod">
          <ac:chgData name="Marc-André Moreau" userId="d5052b6c-3fb4-48de-8d13-16e608076a66" providerId="ADAL" clId="{7FA9D3C6-CB25-4AFE-8721-EA4978261136}" dt="2026-05-31T09:44:46.719" v="15421" actId="20577"/>
          <ac:spMkLst>
            <pc:docMk/>
            <pc:sldMk cId="45832049" sldId="405"/>
            <ac:spMk id="5" creationId="{C2E12D8A-087A-F1B2-300B-DD80411A884A}"/>
          </ac:spMkLst>
        </pc:spChg>
      </pc:sldChg>
      <pc:sldChg chg="modSp add mod">
        <pc:chgData name="Marc-André Moreau" userId="d5052b6c-3fb4-48de-8d13-16e608076a66" providerId="ADAL" clId="{7FA9D3C6-CB25-4AFE-8721-EA4978261136}" dt="2026-06-02T09:52:11.309" v="16282" actId="20577"/>
        <pc:sldMkLst>
          <pc:docMk/>
          <pc:sldMk cId="3506820773" sldId="407"/>
        </pc:sldMkLst>
        <pc:spChg chg="mod">
          <ac:chgData name="Marc-André Moreau" userId="d5052b6c-3fb4-48de-8d13-16e608076a66" providerId="ADAL" clId="{7FA9D3C6-CB25-4AFE-8721-EA4978261136}" dt="2026-06-02T09:52:11.309" v="16282" actId="20577"/>
          <ac:spMkLst>
            <pc:docMk/>
            <pc:sldMk cId="3506820773" sldId="407"/>
            <ac:spMk id="5" creationId="{2CACAFC7-78CB-98F9-FEF3-D3E8C9FF6E6F}"/>
          </ac:spMkLst>
        </pc:spChg>
      </pc:sldChg>
      <pc:sldChg chg="modSp add mod">
        <pc:chgData name="Marc-André Moreau" userId="d5052b6c-3fb4-48de-8d13-16e608076a66" providerId="ADAL" clId="{7FA9D3C6-CB25-4AFE-8721-EA4978261136}" dt="2026-06-02T09:50:49.248" v="16255" actId="20577"/>
        <pc:sldMkLst>
          <pc:docMk/>
          <pc:sldMk cId="2412284679" sldId="408"/>
        </pc:sldMkLst>
        <pc:spChg chg="mod">
          <ac:chgData name="Marc-André Moreau" userId="d5052b6c-3fb4-48de-8d13-16e608076a66" providerId="ADAL" clId="{7FA9D3C6-CB25-4AFE-8721-EA4978261136}" dt="2026-06-02T09:45:54.625" v="15632" actId="20577"/>
          <ac:spMkLst>
            <pc:docMk/>
            <pc:sldMk cId="2412284679" sldId="408"/>
            <ac:spMk id="10" creationId="{8B180227-C41B-95B7-C661-E58D03B21473}"/>
          </ac:spMkLst>
        </pc:spChg>
        <pc:spChg chg="mod">
          <ac:chgData name="Marc-André Moreau" userId="d5052b6c-3fb4-48de-8d13-16e608076a66" providerId="ADAL" clId="{7FA9D3C6-CB25-4AFE-8721-EA4978261136}" dt="2026-06-02T09:50:49.248" v="16255" actId="20577"/>
          <ac:spMkLst>
            <pc:docMk/>
            <pc:sldMk cId="2412284679" sldId="408"/>
            <ac:spMk id="11" creationId="{A04AACE9-0F7F-F2A7-C41C-1D28F01429E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BDC4E67-8CB2-26CB-9842-22F9A691D9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31EB5F-53B0-CDA3-72A4-3FA9BE40D0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0670-43D7-400A-ABC5-B69E064DBB37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EB1E06-E4F0-A1A2-1EFB-AD58FA1AF7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061963-6110-4C16-C593-C8C56E4881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74045-2E90-4839-9E75-1C1FCF04B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183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B03A4-75C9-4E3D-9183-2102CA9AEC33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39206-A81D-4F76-8486-302187992F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807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26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534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7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726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600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3083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5D3BA-F0AF-CCB1-DBC2-2656BB738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2ED24E8-36D2-2543-BC4E-F9E5613B63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4C74F91-E30F-1539-DE80-D33D2C430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04415A-917C-E0C4-3EF3-310357EB70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099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342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41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ue">
    <p:bg>
      <p:bgPr>
        <a:solidFill>
          <a:srgbClr val="3462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615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666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659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4C786-AD10-7D88-1933-9D7659D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314" y="1852863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Your bio</a:t>
            </a:r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A7B894-6BCA-2B29-BA04-8AAB1735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3" y="324853"/>
            <a:ext cx="78864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Speaker’s 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374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FF0C1-723F-8331-7203-2AD1CA308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0EBD9-8D5A-98D4-BC92-CE5E1C756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23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D202-8931-7832-6C93-86B82B68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BBC0C-D418-7F75-653D-7BD01A94C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02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3987-4D9C-734A-F0DD-FA7C5E5B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C8F2A-06F7-926F-11A3-0E18B5E01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760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D26B-2105-B752-1559-A5E7E358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B2030-5E24-3C76-AF6E-BEABDB29D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EF88D-DEBE-FA6D-7C2B-49DE203B9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025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F04B-2070-B32A-26F9-689ACEB1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72153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51C8F-389D-6D1D-529E-8F7B5D256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AB8FD-3AC0-420A-CD1A-4BB2C4DEB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E0881B-0B39-A9CB-08B8-7FA6C0D98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27CCB1-27F7-D503-AC18-183950FAE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728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4D49-1A5A-DFCF-8CA7-93B2889E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019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470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FA22-F0C4-1510-0E4C-953C802C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368D-1D41-F3F9-3D07-85EFF2CFB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3765E-1500-5380-7D29-9BED9AFAF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4134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19606-9316-A7A0-65BC-635A494F0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37042-5D0D-C650-5659-376D12BF8F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F090A-47F3-1576-D5A3-105EE3376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489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B042-3840-06BB-E1DF-E9094D81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C1C5E-7112-083E-8A66-4B30A4DD3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3646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4C786-AD10-7D88-1933-9D7659D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314" y="1852863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Your bio</a:t>
            </a:r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A7B894-6BCA-2B29-BA04-8AAB1735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3" y="324853"/>
            <a:ext cx="78864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Speaker’s 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374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5.sv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6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 descr="Une image contenant texte&#10;&#10;Description générée automatiquement">
            <a:extLst>
              <a:ext uri="{FF2B5EF4-FFF2-40B4-BE49-F238E27FC236}">
                <a16:creationId xmlns:a16="http://schemas.microsoft.com/office/drawing/2014/main" id="{46B6AA1A-3151-3AC2-83FB-1C6A4D626C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38E8CAF-D224-9556-511F-8D65E9383F2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591" y="137310"/>
            <a:ext cx="4166241" cy="1426795"/>
          </a:xfrm>
          <a:prstGeom prst="rect">
            <a:avLst/>
          </a:prstGeom>
        </p:spPr>
      </p:pic>
      <p:pic>
        <p:nvPicPr>
          <p:cNvPr id="8" name="Image 7" descr="Une image contenant Police, Graphique, typographie, graphisme&#10;&#10;Le contenu généré par l’IA peut être incorrect.">
            <a:extLst>
              <a:ext uri="{FF2B5EF4-FFF2-40B4-BE49-F238E27FC236}">
                <a16:creationId xmlns:a16="http://schemas.microsoft.com/office/drawing/2014/main" id="{B287398A-20D9-4E87-9997-CB57AB2CCEE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00" y="6074646"/>
            <a:ext cx="2471121" cy="37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929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427B60B6-58D4-7B9F-C29A-CE66AF93F596}"/>
              </a:ext>
            </a:extLst>
          </p:cNvPr>
          <p:cNvSpPr txBox="1">
            <a:spLocks/>
          </p:cNvSpPr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5000">
                <a:latin typeface="Stencil" panose="040409050D0802020404" pitchFamily="82" charset="0"/>
              </a:rPr>
              <a:t> </a:t>
            </a:r>
            <a:endParaRPr lang="en-DE" sz="2500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877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E6A8F4F5-7628-E9E8-23A7-09169C6794F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FC40251A-A850-BFFB-8B10-8DF9490B82FC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05661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>
                <a:solidFill>
                  <a:srgbClr val="3B2B46"/>
                </a:solidFill>
              </a:rPr>
              <a:t>@yourfavoritesocmedhandle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BA6D3-5703-2B33-8381-A6B521E4EF59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5940FBC8-A0C6-2B5F-1902-D32A817C99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3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5400" b="1" kern="1200" dirty="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GB" sz="3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1B01AB94-EEA2-3211-2551-34A16625A1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57010D-0C09-8FBA-F719-A4ED7C3FC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054D6-CB61-3142-2199-DDEA2FD48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122872C-58E4-4D8E-43AD-82C6D51A6C2A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05661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3B2B46"/>
                </a:solidFill>
              </a:rPr>
              <a:t>@awakecoding.com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59BD5C5E-FB1B-A32E-1927-AB6A3C9A66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22738" y="196674"/>
            <a:ext cx="1062038" cy="904875"/>
          </a:xfrm>
          <a:prstGeom prst="rect">
            <a:avLst/>
          </a:prstGeom>
        </p:spPr>
      </p:pic>
      <p:pic>
        <p:nvPicPr>
          <p:cNvPr id="12" name="Image 11" descr="Une image contenant Police, Graphique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9DA822DC-EA6F-C834-636F-0CFA0983C12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716" y="1147469"/>
            <a:ext cx="1169451" cy="376843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E16A90F8-D789-E1FC-28F1-B2BFBC4CC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36662" y="6335963"/>
            <a:ext cx="365125" cy="36512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26EC41D-2CB6-0B12-C26A-46F016046178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4" name="Graphique 23">
            <a:extLst>
              <a:ext uri="{FF2B5EF4-FFF2-40B4-BE49-F238E27FC236}">
                <a16:creationId xmlns:a16="http://schemas.microsoft.com/office/drawing/2014/main" id="{14057C36-7CA7-EB30-FD33-9F60CDAC50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99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3200" kern="1200">
          <a:solidFill>
            <a:srgbClr val="34629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E6A8F4F5-7628-E9E8-23A7-09169C6794F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FC40251A-A850-BFFB-8B10-8DF9490B82FC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05661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3B2B46"/>
                </a:solidFill>
              </a:rPr>
              <a:t>@awakecoding.com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BA6D3-5703-2B33-8381-A6B521E4EF59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5940FBC8-A0C6-2B5F-1902-D32A817C99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3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5400" b="1" kern="1200" dirty="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GB" sz="3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512BD2B3-5213-AE89-B245-3E2067844782}"/>
              </a:ext>
            </a:extLst>
          </p:cNvPr>
          <p:cNvSpPr txBox="1">
            <a:spLocks/>
          </p:cNvSpPr>
          <p:nvPr/>
        </p:nvSpPr>
        <p:spPr>
          <a:xfrm>
            <a:off x="1524000" y="4271395"/>
            <a:ext cx="9144000" cy="63175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3B2B4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>
                <a:latin typeface="Segoe UI" panose="020B0502040204020203" pitchFamily="34" charset="0"/>
                <a:cs typeface="Segoe UI" panose="020B0502040204020203" pitchFamily="34" charset="0"/>
              </a:rPr>
              <a:t>Marc-André Moreau</a:t>
            </a:r>
          </a:p>
        </p:txBody>
      </p:sp>
      <p:cxnSp>
        <p:nvCxnSpPr>
          <p:cNvPr id="4" name="Connecteur droit 5">
            <a:extLst>
              <a:ext uri="{FF2B5EF4-FFF2-40B4-BE49-F238E27FC236}">
                <a16:creationId xmlns:a16="http://schemas.microsoft.com/office/drawing/2014/main" id="{E9631884-5100-1BA8-2365-47609B2977D7}"/>
              </a:ext>
            </a:extLst>
          </p:cNvPr>
          <p:cNvCxnSpPr/>
          <p:nvPr/>
        </p:nvCxnSpPr>
        <p:spPr>
          <a:xfrm>
            <a:off x="3867150" y="4089400"/>
            <a:ext cx="4508500" cy="0"/>
          </a:xfrm>
          <a:prstGeom prst="line">
            <a:avLst/>
          </a:prstGeom>
          <a:ln>
            <a:solidFill>
              <a:srgbClr val="3B2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el 4">
            <a:extLst>
              <a:ext uri="{FF2B5EF4-FFF2-40B4-BE49-F238E27FC236}">
                <a16:creationId xmlns:a16="http://schemas.microsoft.com/office/drawing/2014/main" id="{EC34FE26-AFCF-2A09-DB2E-84FFA4D454A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63600" y="2672840"/>
            <a:ext cx="10515600" cy="1325563"/>
          </a:xfrm>
          <a:prstGeom prst="rect">
            <a:avLst/>
          </a:prstGeom>
        </p:spPr>
        <p:txBody>
          <a:bodyPr anchor="b" anchorCtr="0"/>
          <a:lstStyle/>
          <a:p>
            <a:pPr algn="ctr"/>
            <a:r>
              <a:rPr lang="en-DE" sz="6000" b="1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Next Up:</a:t>
            </a:r>
          </a:p>
        </p:txBody>
      </p:sp>
    </p:spTree>
    <p:extLst>
      <p:ext uri="{BB962C8B-B14F-4D97-AF65-F5344CB8AC3E}">
        <p14:creationId xmlns:p14="http://schemas.microsoft.com/office/powerpoint/2010/main" val="2028419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>
            <a:extLst>
              <a:ext uri="{FF2B5EF4-FFF2-40B4-BE49-F238E27FC236}">
                <a16:creationId xmlns:a16="http://schemas.microsoft.com/office/drawing/2014/main" id="{82643D59-896E-68AE-5BCA-3F8558F198E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3</a:t>
            </a:r>
            <a:endParaRPr lang="en-GB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US" sz="25000">
                <a:solidFill>
                  <a:schemeClr val="bg1"/>
                </a:solidFill>
                <a:latin typeface="Stencil" panose="040409050D0802020404" pitchFamily="82" charset="0"/>
              </a:rPr>
              <a:t>3</a:t>
            </a:r>
            <a:endParaRPr lang="en-DE" sz="2500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004164"/>
      </p:ext>
    </p:extLst>
  </p:cSld>
  <p:clrMapOvr>
    <a:masterClrMapping/>
  </p:clrMapOvr>
  <p:transition spd="slow" advTm="100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US" sz="25000">
                <a:solidFill>
                  <a:schemeClr val="bg1"/>
                </a:solidFill>
                <a:latin typeface="Stencil" panose="040409050D0802020404" pitchFamily="82" charset="0"/>
              </a:rPr>
              <a:t>2</a:t>
            </a:r>
            <a:endParaRPr lang="en-DE" sz="2500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012733"/>
      </p:ext>
    </p:extLst>
  </p:cSld>
  <p:clrMapOvr>
    <a:masterClrMapping/>
  </p:clrMapOvr>
  <p:transition spd="slow" advTm="1000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US" sz="25000">
                <a:latin typeface="Stencil" panose="040409050D0802020404" pitchFamily="82" charset="0"/>
              </a:rPr>
              <a:t>1</a:t>
            </a:r>
            <a:endParaRPr lang="en-DE" sz="2500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31530"/>
      </p:ext>
    </p:extLst>
  </p:cSld>
  <p:clrMapOvr>
    <a:masterClrMapping/>
  </p:clrMapOvr>
  <p:transition spd="slow" advTm="100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FB22B504-146E-1966-17CE-BB797BC6083D}"/>
              </a:ext>
            </a:extLst>
          </p:cNvPr>
          <p:cNvSpPr txBox="1">
            <a:spLocks/>
          </p:cNvSpPr>
          <p:nvPr/>
        </p:nvSpPr>
        <p:spPr>
          <a:xfrm>
            <a:off x="1524000" y="4271395"/>
            <a:ext cx="9144000" cy="63175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3B2B4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/>
              <a:t>Marc-André Moreau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169C0FB-08C4-E3EC-573C-91852880EBAA}"/>
              </a:ext>
            </a:extLst>
          </p:cNvPr>
          <p:cNvCxnSpPr/>
          <p:nvPr/>
        </p:nvCxnSpPr>
        <p:spPr>
          <a:xfrm>
            <a:off x="3867150" y="4089400"/>
            <a:ext cx="4508500" cy="0"/>
          </a:xfrm>
          <a:prstGeom prst="line">
            <a:avLst/>
          </a:prstGeom>
          <a:ln>
            <a:solidFill>
              <a:srgbClr val="3B2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el 3">
            <a:extLst>
              <a:ext uri="{FF2B5EF4-FFF2-40B4-BE49-F238E27FC236}">
                <a16:creationId xmlns:a16="http://schemas.microsoft.com/office/drawing/2014/main" id="{0E2348EB-2258-5792-670F-322202E630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2667000"/>
            <a:ext cx="10515600" cy="1325563"/>
          </a:xfrm>
          <a:prstGeom prst="rect">
            <a:avLst/>
          </a:prstGeom>
        </p:spPr>
        <p:txBody>
          <a:bodyPr anchor="b" anchorCtr="0"/>
          <a:lstStyle/>
          <a:p>
            <a:pPr algn="ctr"/>
            <a:r>
              <a:rPr lang="en-US" sz="6000" b="1" dirty="0">
                <a:solidFill>
                  <a:srgbClr val="346296"/>
                </a:solidFill>
                <a:latin typeface="+mn-lt"/>
              </a:rPr>
              <a:t>Implementing </a:t>
            </a:r>
            <a:r>
              <a:rPr lang="en-US" sz="6000" b="1" dirty="0" err="1">
                <a:solidFill>
                  <a:srgbClr val="346296"/>
                </a:solidFill>
                <a:latin typeface="+mn-lt"/>
              </a:rPr>
              <a:t>PSRemoting</a:t>
            </a:r>
            <a:endParaRPr lang="en-US" sz="6000" b="1" dirty="0">
              <a:solidFill>
                <a:srgbClr val="346296"/>
              </a:solidFill>
              <a:latin typeface="+mn-lt"/>
            </a:endParaRPr>
          </a:p>
          <a:p>
            <a:pPr algn="ctr"/>
            <a:r>
              <a:rPr lang="en-US" sz="6000" b="1" dirty="0">
                <a:solidFill>
                  <a:srgbClr val="346296"/>
                </a:solidFill>
                <a:latin typeface="+mn-lt"/>
              </a:rPr>
              <a:t>at Devolutions: Lessons Learned</a:t>
            </a:r>
          </a:p>
        </p:txBody>
      </p:sp>
    </p:spTree>
    <p:extLst>
      <p:ext uri="{BB962C8B-B14F-4D97-AF65-F5344CB8AC3E}">
        <p14:creationId xmlns:p14="http://schemas.microsoft.com/office/powerpoint/2010/main" val="811687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531CB4D-40EE-4CEA-4C1F-A86C158A8A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09061" y="630961"/>
            <a:ext cx="9733280" cy="1325563"/>
          </a:xfrm>
        </p:spPr>
        <p:txBody>
          <a:bodyPr/>
          <a:lstStyle/>
          <a:p>
            <a:pPr rtl="0" eaLnBrk="1" latinLnBrk="0" hangingPunct="1"/>
            <a:r>
              <a:rPr lang="fr-FR" sz="4000" b="1" kern="1200" err="1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Many</a:t>
            </a:r>
            <a:r>
              <a:rPr lang="fr-FR" sz="4000" b="1" kern="1200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fr-FR" sz="4000" b="1" kern="1200" err="1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thanks</a:t>
            </a:r>
            <a:r>
              <a:rPr lang="fr-FR" sz="4000" b="1" kern="1200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to </a:t>
            </a:r>
            <a:r>
              <a:rPr lang="fr-FR" sz="4000" b="1" kern="1200" err="1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our</a:t>
            </a:r>
            <a:r>
              <a:rPr lang="fr-FR" sz="4000" b="1" kern="1200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sponsors:</a:t>
            </a:r>
            <a:endParaRPr lang="en-DE">
              <a:solidFill>
                <a:srgbClr val="3B2A47"/>
              </a:solidFill>
            </a:endParaRP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56B20C8F-B2CB-B1F9-8E7F-3897FE369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2212" y="2226290"/>
            <a:ext cx="8666977" cy="265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558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3312970-1382-905E-DF3A-5D367E6E7736}"/>
              </a:ext>
            </a:extLst>
          </p:cNvPr>
          <p:cNvSpPr txBox="1">
            <a:spLocks/>
          </p:cNvSpPr>
          <p:nvPr/>
        </p:nvSpPr>
        <p:spPr>
          <a:xfrm>
            <a:off x="3467314" y="1852863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Chief Technology Officer at Devolutions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Microsoft MVP (PowerShell &amp; Windows)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Creator of the </a:t>
            </a:r>
            <a:r>
              <a:rPr lang="en-US" dirty="0" err="1"/>
              <a:t>FreeRDP</a:t>
            </a:r>
            <a:r>
              <a:rPr lang="en-US" dirty="0"/>
              <a:t> open-source project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 love PowerShell, .NET, Rust, network protocols and reversing Windows internals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1AB71D8-13B6-19D4-D417-35FE98068B94}"/>
              </a:ext>
            </a:extLst>
          </p:cNvPr>
          <p:cNvSpPr txBox="1"/>
          <p:nvPr/>
        </p:nvSpPr>
        <p:spPr>
          <a:xfrm>
            <a:off x="584200" y="3073400"/>
            <a:ext cx="2540000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i="1"/>
              <a:t>CTO, Devolutions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63F84C9-7486-D81C-EDE7-12CE856D5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2" y="324852"/>
            <a:ext cx="7886485" cy="1325563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rgbClr val="3B2A47"/>
                </a:solidFill>
                <a:latin typeface="+mn-lt"/>
                <a:ea typeface="+mn-ea"/>
                <a:cs typeface="+mn-cs"/>
              </a:rPr>
              <a:t>Marc-André Moreau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938D42-6E58-352B-80E2-4AA21F93C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457200"/>
            <a:ext cx="254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481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167248-C99C-E892-89E1-4CBB81F02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400"/>
            <a:ext cx="9829800" cy="812800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rgbClr val="3B2A47"/>
                </a:solidFill>
              </a:rPr>
              <a:t>About Devolutions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ACAFC7-78CB-98F9-FEF3-D3E8C9FF6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9829800" cy="4114800"/>
          </a:xfrm>
        </p:spPr>
        <p:txBody>
          <a:bodyPr anchor="t"/>
          <a:lstStyle/>
          <a:p>
            <a:pPr>
              <a:spcBef>
                <a:spcPts val="400"/>
              </a:spcBef>
              <a:buNone/>
            </a:pPr>
            <a:r>
              <a:rPr lang="en-US" sz="2000" dirty="0">
                <a:solidFill>
                  <a:srgbClr val="346296"/>
                </a:solidFill>
              </a:rPr>
              <a:t>Canadian software company building secure remote access and privileged access management solutions</a:t>
            </a:r>
          </a:p>
          <a:p>
            <a:pPr>
              <a:spcBef>
                <a:spcPts val="1400"/>
              </a:spcBef>
              <a:buNone/>
            </a:pPr>
            <a:r>
              <a:rPr lang="en-US" sz="2200" b="1" dirty="0">
                <a:solidFill>
                  <a:srgbClr val="3B2A47"/>
                </a:solidFill>
              </a:rPr>
              <a:t>Main products</a:t>
            </a:r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§"/>
            </a:pPr>
            <a:r>
              <a:rPr lang="en-US" sz="2200" b="1" dirty="0">
                <a:solidFill>
                  <a:srgbClr val="3B2A47"/>
                </a:solidFill>
              </a:rPr>
              <a:t>Devolutions RDM</a:t>
            </a:r>
            <a:r>
              <a:rPr lang="en-US" sz="2200" dirty="0">
                <a:solidFill>
                  <a:srgbClr val="000000"/>
                </a:solidFill>
              </a:rPr>
              <a:t>— flagship product</a:t>
            </a:r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§"/>
            </a:pPr>
            <a:r>
              <a:rPr lang="en-US" sz="2200" b="1" dirty="0">
                <a:solidFill>
                  <a:srgbClr val="3B2A47"/>
                </a:solidFill>
              </a:rPr>
              <a:t>Devolutions Server</a:t>
            </a:r>
            <a:r>
              <a:rPr lang="en-US" sz="2200" dirty="0">
                <a:solidFill>
                  <a:srgbClr val="000000"/>
                </a:solidFill>
              </a:rPr>
              <a:t> — self-hosted vault &amp; PAM</a:t>
            </a:r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§"/>
            </a:pPr>
            <a:r>
              <a:rPr lang="en-US" sz="2200" b="1" dirty="0">
                <a:solidFill>
                  <a:srgbClr val="3B2A47"/>
                </a:solidFill>
              </a:rPr>
              <a:t>Devolutions Cloud</a:t>
            </a:r>
            <a:r>
              <a:rPr lang="en-US" sz="2200" dirty="0">
                <a:solidFill>
                  <a:srgbClr val="000000"/>
                </a:solidFill>
              </a:rPr>
              <a:t> — cloud-hosted vault</a:t>
            </a:r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§"/>
            </a:pPr>
            <a:r>
              <a:rPr lang="en-US" sz="2200" b="1" dirty="0">
                <a:solidFill>
                  <a:srgbClr val="3B2A47"/>
                </a:solidFill>
              </a:rPr>
              <a:t>Devolutions Gateway</a:t>
            </a:r>
            <a:r>
              <a:rPr lang="en-US" sz="2200" dirty="0">
                <a:solidFill>
                  <a:srgbClr val="000000"/>
                </a:solidFill>
              </a:rPr>
              <a:t> — JIT access &amp; session monitoring</a:t>
            </a:r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§"/>
            </a:pPr>
            <a:r>
              <a:rPr lang="en-US" sz="2200" b="1">
                <a:solidFill>
                  <a:srgbClr val="3B2A47"/>
                </a:solidFill>
              </a:rPr>
              <a:t>Devolutions PowerShell </a:t>
            </a:r>
            <a:r>
              <a:rPr lang="en-US" sz="2200" b="1" dirty="0">
                <a:solidFill>
                  <a:srgbClr val="3B2A47"/>
                </a:solidFill>
              </a:rPr>
              <a:t>Universal</a:t>
            </a:r>
            <a:r>
              <a:rPr lang="en-US" sz="2200" dirty="0">
                <a:solidFill>
                  <a:srgbClr val="000000"/>
                </a:solidFill>
              </a:rPr>
              <a:t> — IT automation platform</a:t>
            </a:r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§"/>
            </a:pPr>
            <a:r>
              <a:rPr lang="en-US" sz="2200" b="1" dirty="0">
                <a:solidFill>
                  <a:srgbClr val="3B2A47"/>
                </a:solidFill>
              </a:rPr>
              <a:t>Devolutions </a:t>
            </a:r>
            <a:r>
              <a:rPr lang="en-US" sz="2200" b="1" dirty="0" err="1">
                <a:solidFill>
                  <a:srgbClr val="3B2A47"/>
                </a:solidFill>
              </a:rPr>
              <a:t>UniGetUI</a:t>
            </a:r>
            <a:r>
              <a:rPr lang="en-US" sz="2200" dirty="0">
                <a:solidFill>
                  <a:srgbClr val="000000"/>
                </a:solidFill>
              </a:rPr>
              <a:t> — GUI for package managers</a:t>
            </a:r>
          </a:p>
        </p:txBody>
      </p:sp>
    </p:spTree>
    <p:extLst>
      <p:ext uri="{BB962C8B-B14F-4D97-AF65-F5344CB8AC3E}">
        <p14:creationId xmlns:p14="http://schemas.microsoft.com/office/powerpoint/2010/main" val="3506820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F88BB-6E9D-E79B-4F21-9589CDF74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solidFill>
                  <a:srgbClr val="3B2A47"/>
                </a:solidFill>
              </a:rPr>
              <a:t>What We'll Cover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26D8A-9D48-22B8-4BB6-078DBCAE2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400"/>
              </a:spcBef>
              <a:buNone/>
            </a:pPr>
            <a:endParaRPr lang="en-US" sz="2000" dirty="0">
              <a:solidFill>
                <a:srgbClr val="346296"/>
              </a:solidFill>
            </a:endParaRPr>
          </a:p>
          <a:p>
            <a:pPr marL="228600" indent="-228600">
              <a:spcBef>
                <a:spcPts val="800"/>
              </a:spcBef>
              <a:buFont typeface="Wingdings" pitchFamily="2" charset="2"/>
              <a:buChar char="§"/>
            </a:pPr>
            <a:r>
              <a:rPr lang="en-US" sz="1900" b="1" dirty="0" err="1"/>
              <a:t>PSRemoting</a:t>
            </a:r>
            <a:r>
              <a:rPr lang="en-US" sz="1900" b="1" dirty="0"/>
              <a:t> Interactive Session Launching</a:t>
            </a:r>
            <a:r>
              <a:rPr lang="en-US" sz="1900" dirty="0"/>
              <a:t> — how to launch an interactive </a:t>
            </a:r>
            <a:r>
              <a:rPr lang="en-US" sz="1900" dirty="0" err="1"/>
              <a:t>PSRemoting</a:t>
            </a:r>
            <a:r>
              <a:rPr lang="en-US" sz="1900" dirty="0"/>
              <a:t> session, embedded in RDM, and with secure credential injection</a:t>
            </a:r>
          </a:p>
          <a:p>
            <a:pPr marL="228600" indent="-228600">
              <a:spcBef>
                <a:spcPts val="500"/>
              </a:spcBef>
              <a:buFont typeface="Wingdings" pitchFamily="2" charset="2"/>
              <a:buChar char="§"/>
            </a:pPr>
            <a:r>
              <a:rPr lang="en-US" sz="1900" b="1" dirty="0" err="1"/>
              <a:t>PSRemoting</a:t>
            </a:r>
            <a:r>
              <a:rPr lang="en-US" sz="1900" b="1" dirty="0"/>
              <a:t> over SSH and Win32-OpenSSH</a:t>
            </a:r>
            <a:r>
              <a:rPr lang="en-US" sz="1900" dirty="0"/>
              <a:t> — how to launch a </a:t>
            </a:r>
            <a:r>
              <a:rPr lang="en-US" sz="1900" dirty="0" err="1"/>
              <a:t>PSRemoting</a:t>
            </a:r>
            <a:r>
              <a:rPr lang="en-US" sz="1900" dirty="0"/>
              <a:t> over SSH connection from RDM when Win32-OpenSSH doesn’t support credential injection</a:t>
            </a:r>
          </a:p>
          <a:p>
            <a:pPr marL="228600" indent="-228600">
              <a:spcBef>
                <a:spcPts val="500"/>
              </a:spcBef>
              <a:buFont typeface="Wingdings" pitchFamily="2" charset="2"/>
              <a:buChar char="§"/>
            </a:pPr>
            <a:r>
              <a:rPr lang="en-US" sz="1900" b="1" dirty="0"/>
              <a:t>PowerShell SDK and Local </a:t>
            </a:r>
            <a:r>
              <a:rPr lang="en-US" sz="1900" b="1" dirty="0" err="1"/>
              <a:t>PSRemoting</a:t>
            </a:r>
            <a:r>
              <a:rPr lang="en-US" sz="1900" dirty="0"/>
              <a:t> — how to work around assembly conflicts within a parent .NET host process by using a local </a:t>
            </a:r>
            <a:r>
              <a:rPr lang="en-US" sz="1900" dirty="0" err="1"/>
              <a:t>PSRemoting</a:t>
            </a:r>
            <a:r>
              <a:rPr lang="en-US" sz="1900" dirty="0"/>
              <a:t> connection instead</a:t>
            </a:r>
          </a:p>
          <a:p>
            <a:pPr marL="228600" indent="-228600">
              <a:spcBef>
                <a:spcPts val="500"/>
              </a:spcBef>
              <a:buFont typeface="Wingdings" pitchFamily="2" charset="2"/>
              <a:buChar char="§"/>
            </a:pPr>
            <a:r>
              <a:rPr lang="en-US" sz="1900" b="1" dirty="0" err="1"/>
              <a:t>PSRemoting</a:t>
            </a:r>
            <a:r>
              <a:rPr lang="en-US" sz="1900" b="1" dirty="0"/>
              <a:t> in the Browser</a:t>
            </a:r>
            <a:r>
              <a:rPr lang="en-US" sz="1900" dirty="0"/>
              <a:t> — How to implement a true </a:t>
            </a:r>
            <a:r>
              <a:rPr lang="en-US" sz="1900" dirty="0" err="1"/>
              <a:t>PSRemoting</a:t>
            </a:r>
            <a:r>
              <a:rPr lang="en-US" sz="1900" dirty="0"/>
              <a:t> browser-based client that doesn’t require an agent on the destination host</a:t>
            </a:r>
          </a:p>
        </p:txBody>
      </p:sp>
    </p:spTree>
    <p:extLst>
      <p:ext uri="{BB962C8B-B14F-4D97-AF65-F5344CB8AC3E}">
        <p14:creationId xmlns:p14="http://schemas.microsoft.com/office/powerpoint/2010/main" val="3113027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D0B5C-B24D-C996-C698-9FBC1FED1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ectionTitle">
            <a:extLst>
              <a:ext uri="{FF2B5EF4-FFF2-40B4-BE49-F238E27FC236}">
                <a16:creationId xmlns:a16="http://schemas.microsoft.com/office/drawing/2014/main" id="{AB69E819-6C68-2FB4-1D2E-60668E474D8F}"/>
              </a:ext>
            </a:extLst>
          </p:cNvPr>
          <p:cNvSpPr txBox="1"/>
          <p:nvPr/>
        </p:nvSpPr>
        <p:spPr>
          <a:xfrm>
            <a:off x="609600" y="1828800"/>
            <a:ext cx="10972800" cy="1524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4000" b="1" dirty="0" err="1">
                <a:solidFill>
                  <a:srgbClr val="346296"/>
                </a:solidFill>
                <a:latin typeface="Calibri"/>
              </a:rPr>
              <a:t>PSRemoting</a:t>
            </a:r>
            <a:r>
              <a:rPr lang="en-US" sz="4000" b="1" dirty="0">
                <a:solidFill>
                  <a:srgbClr val="346296"/>
                </a:solidFill>
                <a:latin typeface="Calibri"/>
              </a:rPr>
              <a:t> Interactive Session Launching</a:t>
            </a:r>
          </a:p>
        </p:txBody>
      </p:sp>
      <p:cxnSp>
        <p:nvCxnSpPr>
          <p:cNvPr id="22" name="Line">
            <a:extLst>
              <a:ext uri="{FF2B5EF4-FFF2-40B4-BE49-F238E27FC236}">
                <a16:creationId xmlns:a16="http://schemas.microsoft.com/office/drawing/2014/main" id="{044599B8-6E74-1180-A287-F63AD9A7AEB6}"/>
              </a:ext>
            </a:extLst>
          </p:cNvPr>
          <p:cNvCxnSpPr/>
          <p:nvPr/>
        </p:nvCxnSpPr>
        <p:spPr>
          <a:xfrm>
            <a:off x="4572000" y="3429000"/>
            <a:ext cx="3048000" cy="0"/>
          </a:xfrm>
          <a:prstGeom prst="line">
            <a:avLst/>
          </a:prstGeom>
          <a:ln w="12700">
            <a:solidFill>
              <a:srgbClr val="346296"/>
            </a:solidFill>
          </a:ln>
        </p:spPr>
      </p:cxnSp>
      <p:sp>
        <p:nvSpPr>
          <p:cNvPr id="21" name="SectionSub">
            <a:extLst>
              <a:ext uri="{FF2B5EF4-FFF2-40B4-BE49-F238E27FC236}">
                <a16:creationId xmlns:a16="http://schemas.microsoft.com/office/drawing/2014/main" id="{94BCC253-0276-64D3-F478-F7E1F06B755B}"/>
              </a:ext>
            </a:extLst>
          </p:cNvPr>
          <p:cNvSpPr txBox="1"/>
          <p:nvPr/>
        </p:nvSpPr>
        <p:spPr>
          <a:xfrm>
            <a:off x="609600" y="35052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endParaRPr lang="en-US" sz="2000" dirty="0">
              <a:solidFill>
                <a:srgbClr val="3B2A47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1975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1389A-5288-33D4-77A7-05D006BF3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">
            <a:extLst>
              <a:ext uri="{FF2B5EF4-FFF2-40B4-BE49-F238E27FC236}">
                <a16:creationId xmlns:a16="http://schemas.microsoft.com/office/drawing/2014/main" id="{E0FB5544-408F-A4E1-2D1F-41AA853C33B8}"/>
              </a:ext>
            </a:extLst>
          </p:cNvPr>
          <p:cNvSpPr txBox="1"/>
          <p:nvPr/>
        </p:nvSpPr>
        <p:spPr>
          <a:xfrm>
            <a:off x="838200" y="190500"/>
            <a:ext cx="9829800" cy="7366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800" b="1" dirty="0">
                <a:solidFill>
                  <a:srgbClr val="3B2A47"/>
                </a:solidFill>
                <a:latin typeface="Calibri"/>
              </a:rPr>
              <a:t>Remote PowerShell in Remote Desktop Manager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D8F0A0-3538-B40C-948F-5A91C0CA3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863" y="927100"/>
            <a:ext cx="9455457" cy="580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022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167248-C99C-E892-89E1-4CBB81F02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rgbClr val="3B2A47"/>
                </a:solidFill>
              </a:rPr>
              <a:t>Embedded PowerShell in RDM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ACAFC7-78CB-98F9-FEF3-D3E8C9FF6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fontScale="70000" lnSpcReduction="20000"/>
          </a:bodyPr>
          <a:lstStyle/>
          <a:p>
            <a:pPr>
              <a:spcBef>
                <a:spcPts val="400"/>
              </a:spcBef>
              <a:buNone/>
            </a:pPr>
            <a:r>
              <a:rPr lang="en-US" dirty="0">
                <a:solidFill>
                  <a:srgbClr val="346296"/>
                </a:solidFill>
              </a:rPr>
              <a:t>RDM launches a new PowerShell process, reparented into an embedded tab</a:t>
            </a:r>
          </a:p>
          <a:p>
            <a:pPr>
              <a:spcBef>
                <a:spcPts val="1600"/>
              </a:spcBef>
              <a:buNone/>
            </a:pPr>
            <a:r>
              <a:rPr lang="en-US" b="1" dirty="0">
                <a:solidFill>
                  <a:srgbClr val="3B2A47"/>
                </a:solidFill>
              </a:rPr>
              <a:t>Classic Console Host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Window reparenting worked, but with caveats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Console host appears externally for a moment before being reparented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Resizing doesn’t automatically sync rows/cols in PowerShell</a:t>
            </a:r>
          </a:p>
          <a:p>
            <a:pPr>
              <a:spcBef>
                <a:spcPts val="1600"/>
              </a:spcBef>
              <a:buNone/>
            </a:pPr>
            <a:r>
              <a:rPr lang="en-US" b="1" dirty="0">
                <a:solidFill>
                  <a:srgbClr val="3B2A47"/>
                </a:solidFill>
              </a:rPr>
              <a:t>Windows Terminal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Window reparenting is not possible with Windows Terminal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Built our own WT distro patched to accept a parent window from RDM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solidFill>
                  <a:srgbClr val="346296"/>
                </a:solidFill>
              </a:rPr>
              <a:t>github.com/Devolutions/wt-distro</a:t>
            </a:r>
          </a:p>
        </p:txBody>
      </p:sp>
    </p:spTree>
    <p:extLst>
      <p:ext uri="{BB962C8B-B14F-4D97-AF65-F5344CB8AC3E}">
        <p14:creationId xmlns:p14="http://schemas.microsoft.com/office/powerpoint/2010/main" val="1105242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167248-C99C-E892-89E1-4CBB81F02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rgbClr val="3B2A47"/>
                </a:solidFill>
              </a:rPr>
              <a:t>Secure Credential Injection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ACAFC7-78CB-98F9-FEF3-D3E8C9FF6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fontScale="70000" lnSpcReduction="20000"/>
          </a:bodyPr>
          <a:lstStyle/>
          <a:p>
            <a:pPr>
              <a:spcBef>
                <a:spcPts val="400"/>
              </a:spcBef>
              <a:buNone/>
            </a:pPr>
            <a:r>
              <a:rPr lang="en-US" b="1" dirty="0">
                <a:solidFill>
                  <a:srgbClr val="3B2A47"/>
                </a:solidFill>
              </a:rPr>
              <a:t>The Problem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RDM injects Enter-PSSession with credentials at launch via pwsh.exe args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Command-line args visible to any process on the system — credentials leaked</a:t>
            </a:r>
          </a:p>
          <a:p>
            <a:pPr>
              <a:spcBef>
                <a:spcPts val="1800"/>
              </a:spcBef>
              <a:buNone/>
            </a:pPr>
            <a:r>
              <a:rPr lang="en-US" b="1" dirty="0">
                <a:solidFill>
                  <a:srgbClr val="3B2A47"/>
                </a:solidFill>
              </a:rPr>
              <a:t>The Solution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Bootstrap snippet reads the real command from a temporary named pipe server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Enter-PSSession credentials delivered through the pipe, not the command line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Credential reconstructed in a variable — never displayed or written to history</a:t>
            </a:r>
          </a:p>
        </p:txBody>
      </p:sp>
    </p:spTree>
    <p:extLst>
      <p:ext uri="{BB962C8B-B14F-4D97-AF65-F5344CB8AC3E}">
        <p14:creationId xmlns:p14="http://schemas.microsoft.com/office/powerpoint/2010/main" val="151876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"/>
          <p:cNvSpPr txBox="1"/>
          <p:nvPr/>
        </p:nvSpPr>
        <p:spPr>
          <a:xfrm>
            <a:off x="838200" y="190500"/>
            <a:ext cx="9829800" cy="7366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800" b="1" dirty="0">
                <a:solidFill>
                  <a:srgbClr val="3B2A47"/>
                </a:solidFill>
                <a:latin typeface="Calibri"/>
              </a:rPr>
              <a:t>How PSSecureCommand Works</a:t>
            </a:r>
          </a:p>
        </p:txBody>
      </p:sp>
      <p:sp>
        <p:nvSpPr>
          <p:cNvPr id="31" name="Box0"/>
          <p:cNvSpPr/>
          <p:nvPr/>
        </p:nvSpPr>
        <p:spPr>
          <a:xfrm>
            <a:off x="838200" y="1379376"/>
            <a:ext cx="2438400" cy="1778000"/>
          </a:xfrm>
          <a:prstGeom prst="roundRect">
            <a:avLst>
              <a:gd name="adj" fmla="val 8000"/>
            </a:avLst>
          </a:prstGeom>
          <a:solidFill>
            <a:srgbClr val="34629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RDM</a:t>
            </a:r>
          </a:p>
          <a:p>
            <a:pPr algn="ctr"/>
            <a:r>
              <a:rPr lang="en-US" sz="1500" dirty="0">
                <a:solidFill>
                  <a:srgbClr val="DDDDDD"/>
                </a:solidFill>
              </a:rPr>
              <a:t>Parent Process</a:t>
            </a:r>
          </a:p>
        </p:txBody>
      </p:sp>
      <p:sp>
        <p:nvSpPr>
          <p:cNvPr id="40" name="Arr0"/>
          <p:cNvSpPr/>
          <p:nvPr/>
        </p:nvSpPr>
        <p:spPr>
          <a:xfrm>
            <a:off x="3302000" y="2065176"/>
            <a:ext cx="431800" cy="4064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Box1"/>
          <p:cNvSpPr/>
          <p:nvPr/>
        </p:nvSpPr>
        <p:spPr>
          <a:xfrm>
            <a:off x="3759200" y="1379376"/>
            <a:ext cx="2438400" cy="1778000"/>
          </a:xfrm>
          <a:prstGeom prst="roundRect">
            <a:avLst>
              <a:gd name="adj" fmla="val 8000"/>
            </a:avLst>
          </a:prstGeom>
          <a:solidFill>
            <a:srgbClr val="3B2A47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Named Pipe Server</a:t>
            </a:r>
          </a:p>
          <a:p>
            <a:pPr algn="ctr"/>
            <a:r>
              <a:rPr lang="en-US" sz="1500" dirty="0">
                <a:solidFill>
                  <a:srgbClr val="DDDDDD"/>
                </a:solidFill>
              </a:rPr>
              <a:t>pscmd-{guid}</a:t>
            </a:r>
          </a:p>
        </p:txBody>
      </p:sp>
      <p:sp>
        <p:nvSpPr>
          <p:cNvPr id="41" name="Arr1"/>
          <p:cNvSpPr/>
          <p:nvPr/>
        </p:nvSpPr>
        <p:spPr>
          <a:xfrm>
            <a:off x="6223000" y="2065176"/>
            <a:ext cx="431800" cy="4064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Box2"/>
          <p:cNvSpPr/>
          <p:nvPr/>
        </p:nvSpPr>
        <p:spPr>
          <a:xfrm>
            <a:off x="6680200" y="1379376"/>
            <a:ext cx="2438400" cy="1778000"/>
          </a:xfrm>
          <a:prstGeom prst="roundRect">
            <a:avLst>
              <a:gd name="adj" fmla="val 8000"/>
            </a:avLst>
          </a:prstGeom>
          <a:solidFill>
            <a:srgbClr val="34629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pwsh.exe</a:t>
            </a:r>
          </a:p>
          <a:p>
            <a:pPr algn="ctr"/>
            <a:r>
              <a:rPr lang="en-US" sz="1500" dirty="0">
                <a:solidFill>
                  <a:srgbClr val="DDDDDD"/>
                </a:solidFill>
              </a:rPr>
              <a:t>Child Process</a:t>
            </a:r>
          </a:p>
        </p:txBody>
      </p:sp>
      <p:sp>
        <p:nvSpPr>
          <p:cNvPr id="42" name="Arr2"/>
          <p:cNvSpPr/>
          <p:nvPr/>
        </p:nvSpPr>
        <p:spPr>
          <a:xfrm>
            <a:off x="9144000" y="2065176"/>
            <a:ext cx="431800" cy="4064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Box3"/>
          <p:cNvSpPr/>
          <p:nvPr/>
        </p:nvSpPr>
        <p:spPr>
          <a:xfrm>
            <a:off x="9601200" y="1379376"/>
            <a:ext cx="1270000" cy="1778000"/>
          </a:xfrm>
          <a:prstGeom prst="roundRect">
            <a:avLst>
              <a:gd name="adj" fmla="val 8000"/>
            </a:avLst>
          </a:prstGeom>
          <a:solidFill>
            <a:srgbClr val="3B2A47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Invoke-Expression</a:t>
            </a:r>
          </a:p>
          <a:p>
            <a:pPr algn="ctr"/>
            <a:r>
              <a:rPr lang="en-US" sz="1500" dirty="0">
                <a:solidFill>
                  <a:srgbClr val="DDDDDD"/>
                </a:solidFill>
              </a:rPr>
              <a:t>Credential in variable</a:t>
            </a:r>
          </a:p>
        </p:txBody>
      </p:sp>
      <p:sp>
        <p:nvSpPr>
          <p:cNvPr id="50" name="Dest"/>
          <p:cNvSpPr/>
          <p:nvPr/>
        </p:nvSpPr>
        <p:spPr>
          <a:xfrm>
            <a:off x="3759200" y="3360576"/>
            <a:ext cx="2438400" cy="91440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</p:spPr>
        <p:txBody>
          <a:bodyPr wrap="square" lIns="91440" rIns="9144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Pipe destroyed after use</a:t>
            </a:r>
          </a:p>
          <a:p>
            <a:pPr algn="ctr"/>
            <a:r>
              <a:rPr lang="en-US" sz="1400" dirty="0">
                <a:solidFill>
                  <a:srgbClr val="FFCCCC"/>
                </a:solidFill>
              </a:rPr>
              <a:t>Single-use, no replay</a:t>
            </a:r>
          </a:p>
        </p:txBody>
      </p:sp>
      <p:cxnSp>
        <p:nvCxnSpPr>
          <p:cNvPr id="55" name="Conn"/>
          <p:cNvCxnSpPr/>
          <p:nvPr/>
        </p:nvCxnSpPr>
        <p:spPr>
          <a:xfrm>
            <a:off x="4978400" y="3157376"/>
            <a:ext cx="0" cy="203200"/>
          </a:xfrm>
          <a:prstGeom prst="line">
            <a:avLst/>
          </a:prstGeom>
          <a:ln w="19050">
            <a:solidFill>
              <a:srgbClr val="C00000"/>
            </a:solidFill>
            <a:prstDash val="dash"/>
          </a:ln>
        </p:spPr>
      </p:cxnSp>
      <p:sp>
        <p:nvSpPr>
          <p:cNvPr id="52" name="POC"/>
          <p:cNvSpPr txBox="1"/>
          <p:nvPr/>
        </p:nvSpPr>
        <p:spPr>
          <a:xfrm>
            <a:off x="1041400" y="5214776"/>
            <a:ext cx="7924800" cy="4318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1500" dirty="0">
                <a:solidFill>
                  <a:srgbClr val="346296"/>
                </a:solidFill>
              </a:rPr>
              <a:t>github.com/awakecoding/PSSecureCommand</a:t>
            </a:r>
          </a:p>
        </p:txBody>
      </p:sp>
    </p:spTree>
    <p:extLst>
      <p:ext uri="{BB962C8B-B14F-4D97-AF65-F5344CB8AC3E}">
        <p14:creationId xmlns:p14="http://schemas.microsoft.com/office/powerpoint/2010/main" val="1404237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ectionTitle"/>
          <p:cNvSpPr txBox="1"/>
          <p:nvPr/>
        </p:nvSpPr>
        <p:spPr>
          <a:xfrm>
            <a:off x="609600" y="1828800"/>
            <a:ext cx="10972800" cy="1524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4000" b="1" dirty="0" err="1">
                <a:solidFill>
                  <a:srgbClr val="346296"/>
                </a:solidFill>
                <a:latin typeface="Calibri"/>
              </a:rPr>
              <a:t>PSRemoting</a:t>
            </a:r>
            <a:r>
              <a:rPr lang="en-US" sz="4000" b="1" dirty="0">
                <a:solidFill>
                  <a:srgbClr val="346296"/>
                </a:solidFill>
                <a:latin typeface="Calibri"/>
              </a:rPr>
              <a:t> over SSH and Win32-OpenSSH</a:t>
            </a:r>
          </a:p>
        </p:txBody>
      </p:sp>
      <p:cxnSp>
        <p:nvCxnSpPr>
          <p:cNvPr id="22" name="Line"/>
          <p:cNvCxnSpPr/>
          <p:nvPr/>
        </p:nvCxnSpPr>
        <p:spPr>
          <a:xfrm>
            <a:off x="4572000" y="3429000"/>
            <a:ext cx="3048000" cy="0"/>
          </a:xfrm>
          <a:prstGeom prst="line">
            <a:avLst/>
          </a:prstGeom>
          <a:ln w="12700">
            <a:solidFill>
              <a:srgbClr val="346296"/>
            </a:solidFill>
          </a:ln>
        </p:spPr>
      </p:cxnSp>
      <p:sp>
        <p:nvSpPr>
          <p:cNvPr id="21" name="SectionSub"/>
          <p:cNvSpPr txBox="1"/>
          <p:nvPr/>
        </p:nvSpPr>
        <p:spPr>
          <a:xfrm>
            <a:off x="609600" y="35052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endParaRPr lang="en-US" sz="2000" dirty="0">
              <a:solidFill>
                <a:srgbClr val="3B2A47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6259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167248-C99C-E892-89E1-4CBB81F02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rgbClr val="3B2A47"/>
                </a:solidFill>
              </a:rPr>
              <a:t>PSRemoting over SSH — Under the Hood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ACAFC7-78CB-98F9-FEF3-D3E8C9FF6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fontScale="62500" lnSpcReduction="20000"/>
          </a:bodyPr>
          <a:lstStyle/>
          <a:p>
            <a:pPr>
              <a:spcBef>
                <a:spcPts val="200"/>
              </a:spcBef>
              <a:buNone/>
            </a:pPr>
            <a:r>
              <a:rPr lang="en-US" b="1" dirty="0">
                <a:solidFill>
                  <a:srgbClr val="346296"/>
                </a:solidFill>
              </a:rPr>
              <a:t>Client Side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Enter-PSSession -HostName finds the ssh executable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Launches ssh as child process with -s powershell subsystem flag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Hooks ssh’s stdin/stdout as the MS-PSRP transport</a:t>
            </a:r>
          </a:p>
          <a:p>
            <a:pPr>
              <a:spcBef>
                <a:spcPts val="1400"/>
              </a:spcBef>
              <a:buNone/>
            </a:pPr>
            <a:r>
              <a:rPr lang="en-US" b="1" dirty="0">
                <a:solidFill>
                  <a:srgbClr val="346296"/>
                </a:solidFill>
              </a:rPr>
              <a:t>Server Side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sshd receives the “powershell” subsystem request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Looks up Subsystem powershell in sshd_config, launches pwsh -sshs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Hooks pwsh stdin/stdout as the other end of the transport</a:t>
            </a:r>
          </a:p>
          <a:p>
            <a:pPr>
              <a:spcBef>
                <a:spcPts val="1400"/>
              </a:spcBef>
              <a:buNone/>
            </a:pPr>
            <a:r>
              <a:rPr lang="en-US" b="1" dirty="0">
                <a:solidFill>
                  <a:srgbClr val="346296"/>
                </a:solidFill>
              </a:rPr>
              <a:t>Key Insight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SSH is just a transport — it knows nothing about PowerShell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MS-PSRP flows end-to-end between two pwsh instances over stdio</a:t>
            </a:r>
          </a:p>
        </p:txBody>
      </p:sp>
    </p:spTree>
    <p:extLst>
      <p:ext uri="{BB962C8B-B14F-4D97-AF65-F5344CB8AC3E}">
        <p14:creationId xmlns:p14="http://schemas.microsoft.com/office/powerpoint/2010/main" val="48034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"/>
          <p:cNvSpPr txBox="1"/>
          <p:nvPr/>
        </p:nvSpPr>
        <p:spPr>
          <a:xfrm>
            <a:off x="838200" y="152400"/>
            <a:ext cx="9829800" cy="6350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600" b="1" dirty="0">
                <a:solidFill>
                  <a:srgbClr val="3B2A47"/>
                </a:solidFill>
                <a:latin typeface="Calibri"/>
              </a:rPr>
              <a:t>PSRemoting over SSH — Architecture</a:t>
            </a:r>
          </a:p>
        </p:txBody>
      </p:sp>
      <p:sp>
        <p:nvSpPr>
          <p:cNvPr id="61" name="CliHdr"/>
          <p:cNvSpPr/>
          <p:nvPr/>
        </p:nvSpPr>
        <p:spPr>
          <a:xfrm>
            <a:off x="1092200" y="1288143"/>
            <a:ext cx="3581400" cy="406400"/>
          </a:xfrm>
          <a:prstGeom prst="rect">
            <a:avLst/>
          </a:prstGeom>
          <a:solidFill>
            <a:srgbClr val="346296"/>
          </a:solidFill>
          <a:ln>
            <a:noFill/>
          </a:ln>
        </p:spPr>
        <p:txBody>
          <a:bodyPr wrap="square" lIns="91440" rIns="9144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Client Machine</a:t>
            </a:r>
          </a:p>
        </p:txBody>
      </p:sp>
      <p:sp>
        <p:nvSpPr>
          <p:cNvPr id="62" name="SrvHdr"/>
          <p:cNvSpPr/>
          <p:nvPr/>
        </p:nvSpPr>
        <p:spPr>
          <a:xfrm>
            <a:off x="6781800" y="1288143"/>
            <a:ext cx="3581400" cy="406400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txBody>
          <a:bodyPr wrap="square" lIns="91440" rIns="9144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Server Machine</a:t>
            </a:r>
          </a:p>
        </p:txBody>
      </p:sp>
      <p:sp>
        <p:nvSpPr>
          <p:cNvPr id="63" name="PSCli"/>
          <p:cNvSpPr/>
          <p:nvPr/>
        </p:nvSpPr>
        <p:spPr>
          <a:xfrm>
            <a:off x="1092200" y="1796143"/>
            <a:ext cx="3581400" cy="914400"/>
          </a:xfrm>
          <a:prstGeom prst="roundRect">
            <a:avLst>
              <a:gd name="adj" fmla="val 6000"/>
            </a:avLst>
          </a:prstGeom>
          <a:solidFill>
            <a:srgbClr val="E8EDF8"/>
          </a:solidFill>
          <a:ln w="19050">
            <a:solidFill>
              <a:srgbClr val="346296"/>
            </a:solidFill>
          </a:ln>
        </p:spPr>
        <p:txBody>
          <a:bodyPr wrap="square" lIns="91440" rIns="91440" anchor="ctr"/>
          <a:lstStyle/>
          <a:p>
            <a:pPr algn="ctr"/>
            <a:r>
              <a:rPr lang="en-US" sz="1600" b="1" dirty="0">
                <a:solidFill>
                  <a:srgbClr val="346296"/>
                </a:solidFill>
              </a:rPr>
              <a:t>PowerShell Client</a:t>
            </a:r>
          </a:p>
          <a:p>
            <a:pPr algn="ctr"/>
            <a:r>
              <a:rPr lang="en-US" sz="1400" dirty="0">
                <a:solidFill>
                  <a:srgbClr val="555555"/>
                </a:solidFill>
              </a:rPr>
              <a:t>Enter-PSSession -HostName</a:t>
            </a:r>
          </a:p>
        </p:txBody>
      </p:sp>
      <p:sp>
        <p:nvSpPr>
          <p:cNvPr id="70" name="PSRP"/>
          <p:cNvSpPr/>
          <p:nvPr/>
        </p:nvSpPr>
        <p:spPr>
          <a:xfrm>
            <a:off x="4800600" y="1897743"/>
            <a:ext cx="1854200" cy="711200"/>
          </a:xfrm>
          <a:prstGeom prst="roundRect">
            <a:avLst>
              <a:gd name="adj" fmla="val 16000"/>
            </a:avLst>
          </a:prstGeom>
          <a:solidFill>
            <a:srgbClr val="B45309"/>
          </a:solidFill>
          <a:ln>
            <a:noFill/>
          </a:ln>
        </p:spPr>
        <p:txBody>
          <a:bodyPr wrap="square" lIns="45720" r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MS-PSRP</a:t>
            </a:r>
          </a:p>
        </p:txBody>
      </p:sp>
      <p:sp>
        <p:nvSpPr>
          <p:cNvPr id="64" name="PSSrv"/>
          <p:cNvSpPr/>
          <p:nvPr/>
        </p:nvSpPr>
        <p:spPr>
          <a:xfrm>
            <a:off x="6781800" y="1796143"/>
            <a:ext cx="3581400" cy="914400"/>
          </a:xfrm>
          <a:prstGeom prst="roundRect">
            <a:avLst>
              <a:gd name="adj" fmla="val 6000"/>
            </a:avLst>
          </a:prstGeom>
          <a:solidFill>
            <a:srgbClr val="ECE8F0"/>
          </a:solidFill>
          <a:ln w="19050">
            <a:solidFill>
              <a:srgbClr val="3B2A47"/>
            </a:solidFill>
          </a:ln>
        </p:spPr>
        <p:txBody>
          <a:bodyPr wrap="square" lIns="91440" rIns="91440" anchor="ctr"/>
          <a:lstStyle/>
          <a:p>
            <a:pPr algn="ctr"/>
            <a:r>
              <a:rPr lang="en-US" sz="1600" b="1" dirty="0">
                <a:solidFill>
                  <a:srgbClr val="3B2A47"/>
                </a:solidFill>
              </a:rPr>
              <a:t>PowerShell Server</a:t>
            </a:r>
          </a:p>
          <a:p>
            <a:pPr algn="ctr"/>
            <a:r>
              <a:rPr lang="en-US" sz="1400" dirty="0">
                <a:solidFill>
                  <a:srgbClr val="555555"/>
                </a:solidFill>
              </a:rPr>
              <a:t>pwsh -sshs</a:t>
            </a:r>
          </a:p>
        </p:txBody>
      </p:sp>
      <p:sp>
        <p:nvSpPr>
          <p:cNvPr id="65" name="StdL"/>
          <p:cNvSpPr txBox="1"/>
          <p:nvPr/>
        </p:nvSpPr>
        <p:spPr>
          <a:xfrm>
            <a:off x="2184400" y="2761343"/>
            <a:ext cx="1397000" cy="279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300" dirty="0">
                <a:solidFill>
                  <a:srgbClr val="888888"/>
                </a:solidFill>
              </a:rPr>
              <a:t>stdin/stdout</a:t>
            </a:r>
          </a:p>
        </p:txBody>
      </p:sp>
      <p:sp>
        <p:nvSpPr>
          <p:cNvPr id="66" name="StdR"/>
          <p:cNvSpPr txBox="1"/>
          <p:nvPr/>
        </p:nvSpPr>
        <p:spPr>
          <a:xfrm>
            <a:off x="7874000" y="2761343"/>
            <a:ext cx="1397000" cy="279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300" dirty="0">
                <a:solidFill>
                  <a:srgbClr val="888888"/>
                </a:solidFill>
              </a:rPr>
              <a:t>stdin/stdout</a:t>
            </a:r>
          </a:p>
        </p:txBody>
      </p:sp>
      <p:sp>
        <p:nvSpPr>
          <p:cNvPr id="67" name="SSHCli"/>
          <p:cNvSpPr/>
          <p:nvPr/>
        </p:nvSpPr>
        <p:spPr>
          <a:xfrm>
            <a:off x="1092200" y="3091543"/>
            <a:ext cx="3581400" cy="914400"/>
          </a:xfrm>
          <a:prstGeom prst="roundRect">
            <a:avLst>
              <a:gd name="adj" fmla="val 6000"/>
            </a:avLst>
          </a:prstGeom>
          <a:solidFill>
            <a:srgbClr val="E8EDF8"/>
          </a:solidFill>
          <a:ln w="19050">
            <a:solidFill>
              <a:srgbClr val="346296"/>
            </a:solidFill>
          </a:ln>
        </p:spPr>
        <p:txBody>
          <a:bodyPr wrap="square" lIns="91440" rIns="91440" anchor="ctr"/>
          <a:lstStyle/>
          <a:p>
            <a:pPr algn="ctr"/>
            <a:r>
              <a:rPr lang="en-US" sz="1600" b="1" dirty="0">
                <a:solidFill>
                  <a:srgbClr val="346296"/>
                </a:solidFill>
              </a:rPr>
              <a:t>OpenSSH Client</a:t>
            </a:r>
          </a:p>
          <a:p>
            <a:pPr algn="ctr"/>
            <a:r>
              <a:rPr lang="en-US" sz="1400" dirty="0">
                <a:solidFill>
                  <a:srgbClr val="555555"/>
                </a:solidFill>
              </a:rPr>
              <a:t>ssh user@host -s powershell</a:t>
            </a:r>
          </a:p>
        </p:txBody>
      </p:sp>
      <p:sp>
        <p:nvSpPr>
          <p:cNvPr id="69" name="SSHTun"/>
          <p:cNvSpPr/>
          <p:nvPr/>
        </p:nvSpPr>
        <p:spPr>
          <a:xfrm>
            <a:off x="4800600" y="3193143"/>
            <a:ext cx="1854200" cy="711200"/>
          </a:xfrm>
          <a:prstGeom prst="roundRect">
            <a:avLst>
              <a:gd name="adj" fmla="val 16000"/>
            </a:avLst>
          </a:prstGeom>
          <a:solidFill>
            <a:srgbClr val="1F7A3A"/>
          </a:solidFill>
          <a:ln>
            <a:noFill/>
          </a:ln>
        </p:spPr>
        <p:txBody>
          <a:bodyPr wrap="square" lIns="45720" r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SSH Tunnel</a:t>
            </a:r>
          </a:p>
        </p:txBody>
      </p:sp>
      <p:sp>
        <p:nvSpPr>
          <p:cNvPr id="68" name="SSHSrv"/>
          <p:cNvSpPr/>
          <p:nvPr/>
        </p:nvSpPr>
        <p:spPr>
          <a:xfrm>
            <a:off x="6781800" y="3091543"/>
            <a:ext cx="3581400" cy="914400"/>
          </a:xfrm>
          <a:prstGeom prst="roundRect">
            <a:avLst>
              <a:gd name="adj" fmla="val 6000"/>
            </a:avLst>
          </a:prstGeom>
          <a:solidFill>
            <a:srgbClr val="ECE8F0"/>
          </a:solidFill>
          <a:ln w="19050">
            <a:solidFill>
              <a:srgbClr val="3B2A47"/>
            </a:solidFill>
          </a:ln>
        </p:spPr>
        <p:txBody>
          <a:bodyPr wrap="square" lIns="91440" rIns="91440" anchor="ctr"/>
          <a:lstStyle/>
          <a:p>
            <a:pPr algn="ctr"/>
            <a:r>
              <a:rPr lang="en-US" sz="1600" b="1" dirty="0">
                <a:solidFill>
                  <a:srgbClr val="3B2A47"/>
                </a:solidFill>
              </a:rPr>
              <a:t>OpenSSH Server (sshd)</a:t>
            </a:r>
          </a:p>
          <a:p>
            <a:pPr algn="ctr"/>
            <a:r>
              <a:rPr lang="en-US" sz="1400" dirty="0">
                <a:solidFill>
                  <a:srgbClr val="555555"/>
                </a:solidFill>
              </a:rPr>
              <a:t>Subsystem powershell /usr/bin/pwsh -sshs</a:t>
            </a:r>
          </a:p>
        </p:txBody>
      </p:sp>
      <p:sp>
        <p:nvSpPr>
          <p:cNvPr id="71" name="Config"/>
          <p:cNvSpPr/>
          <p:nvPr/>
        </p:nvSpPr>
        <p:spPr>
          <a:xfrm>
            <a:off x="1092200" y="4132943"/>
            <a:ext cx="9271000" cy="660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AAAAAA"/>
            </a:solidFill>
          </a:ln>
        </p:spPr>
        <p:txBody>
          <a:bodyPr wrap="square" lIns="182880" rIns="182880" anchor="ctr"/>
          <a:lstStyle/>
          <a:p>
            <a:r>
              <a:rPr lang="en-US" sz="1500" b="1" dirty="0">
                <a:solidFill>
                  <a:srgbClr val="3B2A47"/>
                </a:solidFill>
                <a:latin typeface="Consolas"/>
              </a:rPr>
              <a:t>sshd_config:  </a:t>
            </a:r>
            <a:r>
              <a:rPr lang="en-US" sz="1500" dirty="0">
                <a:solidFill>
                  <a:srgbClr val="3B2A47"/>
                </a:solidFill>
                <a:latin typeface="Consolas"/>
              </a:rPr>
              <a:t>Subsystem powershell /usr/bin/pwsh -sshs -NoLogo -NoProfile</a:t>
            </a:r>
          </a:p>
        </p:txBody>
      </p:sp>
      <p:sp>
        <p:nvSpPr>
          <p:cNvPr id="72" name="Insight"/>
          <p:cNvSpPr txBox="1"/>
          <p:nvPr/>
        </p:nvSpPr>
        <p:spPr>
          <a:xfrm>
            <a:off x="1295400" y="4894943"/>
            <a:ext cx="8382000" cy="6096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700" b="1" dirty="0">
                <a:solidFill>
                  <a:srgbClr val="346296"/>
                </a:solidFill>
              </a:rPr>
              <a:t>SSH is just a transport pipe — </a:t>
            </a:r>
            <a:r>
              <a:rPr lang="en-US" sz="1700" dirty="0">
                <a:solidFill>
                  <a:srgbClr val="555555"/>
                </a:solidFill>
              </a:rPr>
              <a:t>MS-PSRP flows end-to-end between two pwsh instances over stdio</a:t>
            </a:r>
          </a:p>
        </p:txBody>
      </p:sp>
    </p:spTree>
    <p:extLst>
      <p:ext uri="{BB962C8B-B14F-4D97-AF65-F5344CB8AC3E}">
        <p14:creationId xmlns:p14="http://schemas.microsoft.com/office/powerpoint/2010/main" val="1536562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"/>
          <p:cNvSpPr txBox="1"/>
          <p:nvPr/>
        </p:nvSpPr>
        <p:spPr>
          <a:xfrm>
            <a:off x="838200" y="190500"/>
            <a:ext cx="9829800" cy="6604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600" b="1" dirty="0">
                <a:solidFill>
                  <a:srgbClr val="3B2A47"/>
                </a:solidFill>
                <a:latin typeface="Calibri"/>
              </a:rPr>
              <a:t>Patched Win32-OpenSSH for Password Injection</a:t>
            </a:r>
          </a:p>
        </p:txBody>
      </p:sp>
      <p:sp>
        <p:nvSpPr>
          <p:cNvPr id="81" name="Ctx"/>
          <p:cNvSpPr txBox="1"/>
          <p:nvPr/>
        </p:nvSpPr>
        <p:spPr>
          <a:xfrm>
            <a:off x="838200" y="914400"/>
            <a:ext cx="9829800" cy="4826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1600" dirty="0">
                <a:solidFill>
                  <a:srgbClr val="555555"/>
                </a:solidFill>
              </a:rPr>
              <a:t>Windows’ ssh.exe has no API to inject passwords. We ship a patched distro in RDM.</a:t>
            </a:r>
          </a:p>
        </p:txBody>
      </p:sp>
      <p:sp>
        <p:nvSpPr>
          <p:cNvPr id="90" name="Circ0"/>
          <p:cNvSpPr/>
          <p:nvPr/>
        </p:nvSpPr>
        <p:spPr>
          <a:xfrm>
            <a:off x="1651000" y="1498600"/>
            <a:ext cx="457200" cy="457200"/>
          </a:xfrm>
          <a:prstGeom prst="ellipse">
            <a:avLst/>
          </a:prstGeom>
          <a:solidFill>
            <a:srgbClr val="346296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7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2" name="Box0"/>
          <p:cNvSpPr/>
          <p:nvPr/>
        </p:nvSpPr>
        <p:spPr>
          <a:xfrm>
            <a:off x="660400" y="2006600"/>
            <a:ext cx="2438400" cy="1524000"/>
          </a:xfrm>
          <a:prstGeom prst="roundRect">
            <a:avLst>
              <a:gd name="adj" fmla="val 8000"/>
            </a:avLst>
          </a:prstGeom>
          <a:solidFill>
            <a:srgbClr val="34629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700" b="1" dirty="0">
                <a:solidFill>
                  <a:srgbClr val="FFFFFF"/>
                </a:solidFill>
              </a:rPr>
              <a:t>RDM</a:t>
            </a:r>
          </a:p>
          <a:p>
            <a:pPr algn="ctr"/>
            <a:r>
              <a:rPr lang="en-US" sz="1400" dirty="0">
                <a:solidFill>
                  <a:srgbClr val="DDDDDD"/>
                </a:solidFill>
              </a:rPr>
              <a:t>Creates pipe, serves password once</a:t>
            </a:r>
          </a:p>
        </p:txBody>
      </p:sp>
      <p:sp>
        <p:nvSpPr>
          <p:cNvPr id="95" name="Arr0"/>
          <p:cNvSpPr/>
          <p:nvPr/>
        </p:nvSpPr>
        <p:spPr>
          <a:xfrm>
            <a:off x="3124200" y="2590800"/>
            <a:ext cx="381000" cy="3556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Circ1"/>
          <p:cNvSpPr/>
          <p:nvPr/>
        </p:nvSpPr>
        <p:spPr>
          <a:xfrm>
            <a:off x="4521200" y="1498600"/>
            <a:ext cx="457200" cy="457200"/>
          </a:xfrm>
          <a:prstGeom prst="ellipse">
            <a:avLst/>
          </a:prstGeom>
          <a:solidFill>
            <a:srgbClr val="3B2A47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7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3" name="Box1"/>
          <p:cNvSpPr/>
          <p:nvPr/>
        </p:nvSpPr>
        <p:spPr>
          <a:xfrm>
            <a:off x="3530600" y="2006600"/>
            <a:ext cx="2438400" cy="1524000"/>
          </a:xfrm>
          <a:prstGeom prst="roundRect">
            <a:avLst>
              <a:gd name="adj" fmla="val 8000"/>
            </a:avLst>
          </a:prstGeom>
          <a:solidFill>
            <a:srgbClr val="3B2A47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700" b="1" dirty="0">
                <a:solidFill>
                  <a:srgbClr val="FFFFFF"/>
                </a:solidFill>
              </a:rPr>
              <a:t>Named Pipe</a:t>
            </a:r>
          </a:p>
          <a:p>
            <a:pPr algn="ctr"/>
            <a:r>
              <a:rPr lang="en-US" sz="1400" dirty="0">
                <a:solidFill>
                  <a:srgbClr val="DDDDDD"/>
                </a:solidFill>
              </a:rPr>
              <a:t>\\.\pipe\rdm-*</a:t>
            </a:r>
          </a:p>
        </p:txBody>
      </p:sp>
      <p:sp>
        <p:nvSpPr>
          <p:cNvPr id="96" name="Arr1"/>
          <p:cNvSpPr/>
          <p:nvPr/>
        </p:nvSpPr>
        <p:spPr>
          <a:xfrm>
            <a:off x="5994400" y="2590800"/>
            <a:ext cx="381000" cy="3556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Circ2"/>
          <p:cNvSpPr/>
          <p:nvPr/>
        </p:nvSpPr>
        <p:spPr>
          <a:xfrm>
            <a:off x="7391400" y="1498600"/>
            <a:ext cx="457200" cy="457200"/>
          </a:xfrm>
          <a:prstGeom prst="ellipse">
            <a:avLst/>
          </a:prstGeom>
          <a:solidFill>
            <a:srgbClr val="346296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7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4" name="Box2"/>
          <p:cNvSpPr/>
          <p:nvPr/>
        </p:nvSpPr>
        <p:spPr>
          <a:xfrm>
            <a:off x="6400800" y="2006600"/>
            <a:ext cx="2438400" cy="1524000"/>
          </a:xfrm>
          <a:prstGeom prst="roundRect">
            <a:avLst>
              <a:gd name="adj" fmla="val 8000"/>
            </a:avLst>
          </a:prstGeom>
          <a:solidFill>
            <a:srgbClr val="34629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700" b="1" dirty="0">
                <a:solidFill>
                  <a:srgbClr val="FFFFFF"/>
                </a:solidFill>
              </a:rPr>
              <a:t>Patched ssh.exe</a:t>
            </a:r>
          </a:p>
          <a:p>
            <a:pPr algn="ctr"/>
            <a:r>
              <a:rPr lang="en-US" sz="1400" dirty="0">
                <a:solidFill>
                  <a:srgbClr val="DDDDDD"/>
                </a:solidFill>
              </a:rPr>
              <a:t>Reads pipe via SSH_ASKPASS_PIPE</a:t>
            </a:r>
          </a:p>
        </p:txBody>
      </p:sp>
      <p:sp>
        <p:nvSpPr>
          <p:cNvPr id="97" name="Arr2"/>
          <p:cNvSpPr/>
          <p:nvPr/>
        </p:nvSpPr>
        <p:spPr>
          <a:xfrm>
            <a:off x="8864600" y="2590800"/>
            <a:ext cx="381000" cy="3556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3" name="Circ3"/>
          <p:cNvSpPr/>
          <p:nvPr/>
        </p:nvSpPr>
        <p:spPr>
          <a:xfrm>
            <a:off x="10261600" y="1498600"/>
            <a:ext cx="406400" cy="457200"/>
          </a:xfrm>
          <a:prstGeom prst="ellipse">
            <a:avLst/>
          </a:prstGeom>
          <a:solidFill>
            <a:srgbClr val="3B2A47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7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5" name="Box3"/>
          <p:cNvSpPr/>
          <p:nvPr/>
        </p:nvSpPr>
        <p:spPr>
          <a:xfrm>
            <a:off x="9271000" y="2006600"/>
            <a:ext cx="2438400" cy="1524000"/>
          </a:xfrm>
          <a:prstGeom prst="roundRect">
            <a:avLst>
              <a:gd name="adj" fmla="val 8000"/>
            </a:avLst>
          </a:prstGeom>
          <a:solidFill>
            <a:srgbClr val="3B2A47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700" b="1" dirty="0">
                <a:solidFill>
                  <a:srgbClr val="FFFFFF"/>
                </a:solidFill>
              </a:rPr>
              <a:t>SSH Server</a:t>
            </a:r>
          </a:p>
          <a:p>
            <a:pPr algn="ctr"/>
            <a:r>
              <a:rPr lang="en-US" sz="1400" dirty="0">
                <a:solidFill>
                  <a:srgbClr val="DDDDDD"/>
                </a:solidFill>
              </a:rPr>
              <a:t>-s powershell</a:t>
            </a:r>
          </a:p>
        </p:txBody>
      </p:sp>
      <p:sp>
        <p:nvSpPr>
          <p:cNvPr id="100" name="Env"/>
          <p:cNvSpPr/>
          <p:nvPr/>
        </p:nvSpPr>
        <p:spPr>
          <a:xfrm>
            <a:off x="660400" y="3708400"/>
            <a:ext cx="10871200" cy="86360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 w="19050">
            <a:solidFill>
              <a:srgbClr val="FF9800"/>
            </a:solidFill>
          </a:ln>
        </p:spPr>
        <p:txBody>
          <a:bodyPr wrap="square" lIns="182880" rIns="182880" anchor="ctr"/>
          <a:lstStyle/>
          <a:p>
            <a:r>
              <a:rPr lang="en-US" sz="1600" b="1" dirty="0">
                <a:solidFill>
                  <a:srgbClr val="3B2A47"/>
                </a:solidFill>
                <a:latin typeface="Consolas"/>
              </a:rPr>
              <a:t>SSH_ASKPASS_PIPE=rdm-askpass-{guid}</a:t>
            </a:r>
          </a:p>
          <a:p>
            <a:r>
              <a:rPr lang="en-US" sz="1500" dirty="0">
                <a:solidFill>
                  <a:srgbClr val="555555"/>
                </a:solidFill>
              </a:rPr>
              <a:t>Created per-connection, serves password once, then destroyed. Never written to disk.</a:t>
            </a:r>
          </a:p>
        </p:txBody>
      </p:sp>
      <p:sp>
        <p:nvSpPr>
          <p:cNvPr id="101" name="GH"/>
          <p:cNvSpPr txBox="1"/>
          <p:nvPr/>
        </p:nvSpPr>
        <p:spPr>
          <a:xfrm>
            <a:off x="838200" y="4699000"/>
            <a:ext cx="7924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1600" dirty="0">
                <a:solidFill>
                  <a:srgbClr val="346296"/>
                </a:solidFill>
              </a:rPr>
              <a:t>github.com/Devolutions/openssh-distro</a:t>
            </a:r>
          </a:p>
        </p:txBody>
      </p:sp>
    </p:spTree>
    <p:extLst>
      <p:ext uri="{BB962C8B-B14F-4D97-AF65-F5344CB8AC3E}">
        <p14:creationId xmlns:p14="http://schemas.microsoft.com/office/powerpoint/2010/main" val="633651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FB993-F384-6CE9-38F5-E1BC343DB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D40BC8-9CD3-EC45-5428-E9E10136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rgbClr val="3B2A47"/>
                </a:solidFill>
              </a:rPr>
              <a:t>A Future without OpenSSH in PowerShell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6AAE32-E39D-668C-BE95-FD4C65E89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fontScale="70000" lnSpcReduction="20000"/>
          </a:bodyPr>
          <a:lstStyle/>
          <a:p>
            <a:pPr>
              <a:spcBef>
                <a:spcPts val="200"/>
              </a:spcBef>
              <a:buNone/>
            </a:pPr>
            <a:r>
              <a:rPr lang="en-US" b="1" dirty="0">
                <a:solidFill>
                  <a:srgbClr val="346296"/>
                </a:solidFill>
              </a:rPr>
              <a:t>PowerShell is hardcoded to expect OpenSSH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This makes it very difficult to bring your own SSH stack with custom features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Enter-</a:t>
            </a:r>
            <a:r>
              <a:rPr lang="en-US" dirty="0" err="1"/>
              <a:t>PSSession</a:t>
            </a:r>
            <a:r>
              <a:rPr lang="en-US" dirty="0"/>
              <a:t> doesn’t accept –Credential for an SSH transport type</a:t>
            </a:r>
          </a:p>
          <a:p>
            <a:pPr>
              <a:spcBef>
                <a:spcPts val="1400"/>
              </a:spcBef>
              <a:buNone/>
            </a:pPr>
            <a:r>
              <a:rPr lang="en-US" b="1" dirty="0">
                <a:solidFill>
                  <a:srgbClr val="346296"/>
                </a:solidFill>
              </a:rPr>
              <a:t>Problem: Win32-OpenSSH on Windows, vanilla OpenSSH elsewhere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The PowerShell team can only customize Win32-OpenSSH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OpenSSH project will likely never accept Win32-OpenSSH patches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Conclusion: enhancements like Entra ID auth in SSH have major constraints</a:t>
            </a:r>
          </a:p>
          <a:p>
            <a:pPr>
              <a:spcBef>
                <a:spcPts val="1400"/>
              </a:spcBef>
              <a:buNone/>
            </a:pPr>
            <a:r>
              <a:rPr lang="en-US" b="1" dirty="0">
                <a:solidFill>
                  <a:srgbClr val="346296"/>
                </a:solidFill>
              </a:rPr>
              <a:t>Solution: Pure .NET SSH client stack for </a:t>
            </a:r>
            <a:r>
              <a:rPr lang="en-US" b="1" dirty="0" err="1">
                <a:solidFill>
                  <a:srgbClr val="346296"/>
                </a:solidFill>
              </a:rPr>
              <a:t>PSRemoting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Main issue beyond the .NET SSH stack is the .NET crypto stack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Only realistic way to improve SSH features in PowerShell long term</a:t>
            </a:r>
          </a:p>
        </p:txBody>
      </p:sp>
    </p:spTree>
    <p:extLst>
      <p:ext uri="{BB962C8B-B14F-4D97-AF65-F5344CB8AC3E}">
        <p14:creationId xmlns:p14="http://schemas.microsoft.com/office/powerpoint/2010/main" val="2969114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8DDF4-10A8-383A-DE68-84028BBD6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ectionTitle">
            <a:extLst>
              <a:ext uri="{FF2B5EF4-FFF2-40B4-BE49-F238E27FC236}">
                <a16:creationId xmlns:a16="http://schemas.microsoft.com/office/drawing/2014/main" id="{CB3FFD7C-8E02-C464-80BF-E93C0CE88069}"/>
              </a:ext>
            </a:extLst>
          </p:cNvPr>
          <p:cNvSpPr txBox="1"/>
          <p:nvPr/>
        </p:nvSpPr>
        <p:spPr>
          <a:xfrm>
            <a:off x="609600" y="1828800"/>
            <a:ext cx="10972800" cy="1524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4000" b="1" dirty="0">
                <a:solidFill>
                  <a:srgbClr val="346296"/>
                </a:solidFill>
                <a:latin typeface="Calibri"/>
              </a:rPr>
              <a:t>PowerShell SDK and Local </a:t>
            </a:r>
            <a:r>
              <a:rPr lang="en-US" sz="4000" b="1" dirty="0" err="1">
                <a:solidFill>
                  <a:srgbClr val="346296"/>
                </a:solidFill>
                <a:latin typeface="Calibri"/>
              </a:rPr>
              <a:t>PSRemoting</a:t>
            </a:r>
            <a:endParaRPr lang="en-US" sz="4000" b="1" dirty="0">
              <a:solidFill>
                <a:srgbClr val="346296"/>
              </a:solidFill>
              <a:latin typeface="Calibri"/>
            </a:endParaRPr>
          </a:p>
        </p:txBody>
      </p:sp>
      <p:cxnSp>
        <p:nvCxnSpPr>
          <p:cNvPr id="22" name="Line">
            <a:extLst>
              <a:ext uri="{FF2B5EF4-FFF2-40B4-BE49-F238E27FC236}">
                <a16:creationId xmlns:a16="http://schemas.microsoft.com/office/drawing/2014/main" id="{C81AF851-4440-6C13-E2CA-CA31DE4DC88F}"/>
              </a:ext>
            </a:extLst>
          </p:cNvPr>
          <p:cNvCxnSpPr/>
          <p:nvPr/>
        </p:nvCxnSpPr>
        <p:spPr>
          <a:xfrm>
            <a:off x="4572000" y="3429000"/>
            <a:ext cx="3048000" cy="0"/>
          </a:xfrm>
          <a:prstGeom prst="line">
            <a:avLst/>
          </a:prstGeom>
          <a:ln w="12700">
            <a:solidFill>
              <a:srgbClr val="346296"/>
            </a:solidFill>
          </a:ln>
        </p:spPr>
      </p:cxnSp>
      <p:sp>
        <p:nvSpPr>
          <p:cNvPr id="21" name="SectionSub">
            <a:extLst>
              <a:ext uri="{FF2B5EF4-FFF2-40B4-BE49-F238E27FC236}">
                <a16:creationId xmlns:a16="http://schemas.microsoft.com/office/drawing/2014/main" id="{31F6CA0E-6913-3959-E686-C9F79C674761}"/>
              </a:ext>
            </a:extLst>
          </p:cNvPr>
          <p:cNvSpPr txBox="1"/>
          <p:nvPr/>
        </p:nvSpPr>
        <p:spPr>
          <a:xfrm>
            <a:off x="609600" y="35052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endParaRPr lang="en-US" sz="2000" dirty="0">
              <a:solidFill>
                <a:srgbClr val="3B2A47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0273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167248-C99C-E892-89E1-4CBB81F02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sz="2800" b="1" dirty="0">
                <a:solidFill>
                  <a:srgbClr val="3B2A47"/>
                </a:solidFill>
              </a:rPr>
              <a:t>PowerShell SDK </a:t>
            </a:r>
            <a:r>
              <a:rPr lang="en-US" sz="2800" dirty="0">
                <a:solidFill>
                  <a:srgbClr val="3B2A47"/>
                </a:solidFill>
              </a:rPr>
              <a:t>Limitations</a:t>
            </a:r>
            <a:endParaRPr lang="en-US" sz="2800" b="1" dirty="0">
              <a:solidFill>
                <a:srgbClr val="3B2A47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ACAFC7-78CB-98F9-FEF3-D3E8C9FF6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3937000"/>
          </a:xfrm>
        </p:spPr>
        <p:txBody>
          <a:bodyPr anchor="t">
            <a:normAutofit fontScale="67500" lnSpcReduction="20000"/>
          </a:bodyPr>
          <a:lstStyle/>
          <a:p>
            <a:pPr>
              <a:spcBef>
                <a:spcPts val="200"/>
              </a:spcBef>
              <a:buNone/>
            </a:pPr>
            <a:r>
              <a:rPr lang="en-US" b="1" dirty="0">
                <a:solidFill>
                  <a:srgbClr val="3B2A47"/>
                </a:solidFill>
              </a:rPr>
              <a:t>The PowerShell SDK Bundles a Whole Copy of PowerShell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This is extremely confusing to users that expect your .NET app to use pwsh.exe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Bundling a whole copy of PowerShell contributes greatly to the .NET app size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Due to the dynamic nature of PowerShell, forget about </a:t>
            </a:r>
            <a:r>
              <a:rPr lang="en-US" dirty="0" err="1"/>
              <a:t>NativeAOT</a:t>
            </a:r>
            <a:r>
              <a:rPr lang="en-US" dirty="0"/>
              <a:t> and trimming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No way to import just “client” part of the PowerShell SDK without the server</a:t>
            </a:r>
          </a:p>
          <a:p>
            <a:pPr>
              <a:spcBef>
                <a:spcPts val="1400"/>
              </a:spcBef>
              <a:buNone/>
            </a:pPr>
            <a:r>
              <a:rPr lang="en-US" b="1" dirty="0">
                <a:solidFill>
                  <a:srgbClr val="3B2A47"/>
                </a:solidFill>
              </a:rPr>
              <a:t>Assembly Conflicts with parent .NET app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Your .NET app likely loads assemblies that conflicts with PowerShell modules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Workaround: run PowerShell in a separate process</a:t>
            </a:r>
          </a:p>
        </p:txBody>
      </p:sp>
    </p:spTree>
    <p:extLst>
      <p:ext uri="{BB962C8B-B14F-4D97-AF65-F5344CB8AC3E}">
        <p14:creationId xmlns:p14="http://schemas.microsoft.com/office/powerpoint/2010/main" val="3651189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167248-C99C-E892-89E1-4CBB81F02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sz="2800" b="1" dirty="0">
                <a:solidFill>
                  <a:srgbClr val="3B2A47"/>
                </a:solidFill>
              </a:rPr>
              <a:t>Local PSRemoting via Subprocess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ACAFC7-78CB-98F9-FEF3-D3E8C9FF6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3937000"/>
          </a:xfrm>
        </p:spPr>
        <p:txBody>
          <a:bodyPr anchor="t">
            <a:normAutofit fontScale="75000" lnSpcReduction="20000"/>
          </a:bodyPr>
          <a:lstStyle/>
          <a:p>
            <a:pPr>
              <a:spcBef>
                <a:spcPts val="200"/>
              </a:spcBef>
              <a:buNone/>
            </a:pPr>
            <a:r>
              <a:rPr lang="en-US" b="1" dirty="0">
                <a:solidFill>
                  <a:srgbClr val="3B2A47"/>
                </a:solidFill>
              </a:rPr>
              <a:t>pwsh Subprocess in Server Mode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Launch pwsh as a subprocess in server mode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Similar to how pwsh works in SSH server mode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Transport is stdin/stdout instead of network — no WinRM needed</a:t>
            </a:r>
          </a:p>
          <a:p>
            <a:pPr>
              <a:spcBef>
                <a:spcPts val="1400"/>
              </a:spcBef>
              <a:buNone/>
            </a:pPr>
            <a:r>
              <a:rPr lang="en-US" b="1" dirty="0">
                <a:solidFill>
                  <a:srgbClr val="3B2A47"/>
                </a:solidFill>
              </a:rPr>
              <a:t>No Network Auth — No Problems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No TrustedHosts, no NTLM, no Kerberos required for local use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Out-of-process PowerShell host without network complexity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Assembly conflicts solved — modules load in isolated pwsh process</a:t>
            </a:r>
          </a:p>
          <a:p>
            <a:pPr>
              <a:spcBef>
                <a:spcPts val="800"/>
              </a:spcBef>
              <a:buNone/>
            </a:pPr>
            <a:r>
              <a:rPr lang="en-US" dirty="0">
                <a:solidFill>
                  <a:srgbClr val="346296"/>
                </a:solidFill>
              </a:rPr>
              <a:t>github.com/awakecoding/AwakeCoding.PSRemoting</a:t>
            </a:r>
          </a:p>
        </p:txBody>
      </p:sp>
    </p:spTree>
    <p:extLst>
      <p:ext uri="{BB962C8B-B14F-4D97-AF65-F5344CB8AC3E}">
        <p14:creationId xmlns:p14="http://schemas.microsoft.com/office/powerpoint/2010/main" val="2008858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167248-C99C-E892-89E1-4CBB81F02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sz="2800" b="1" dirty="0">
                <a:solidFill>
                  <a:srgbClr val="3B2A47"/>
                </a:solidFill>
              </a:rPr>
              <a:t>Localhost WinRM: New Problems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ACAFC7-78CB-98F9-FEF3-D3E8C9FF6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3937000"/>
          </a:xfrm>
        </p:spPr>
        <p:txBody>
          <a:bodyPr anchor="t">
            <a:normAutofit fontScale="60000" lnSpcReduction="20000"/>
          </a:bodyPr>
          <a:lstStyle/>
          <a:p>
            <a:pPr>
              <a:spcBef>
                <a:spcPts val="200"/>
              </a:spcBef>
              <a:buNone/>
            </a:pPr>
            <a:r>
              <a:rPr lang="en-US" b="1" dirty="0">
                <a:solidFill>
                  <a:srgbClr val="3B2A47"/>
                </a:solidFill>
              </a:rPr>
              <a:t>PowerShell 7 WinRM Registration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Enable-PSRemoting must run from pwsh.exe, not powershell.exe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PS7 updates break session configs — fix by unregistering and re-running Enable-PSRemoting</a:t>
            </a:r>
          </a:p>
          <a:p>
            <a:pPr marL="457200" indent="0">
              <a:spcBef>
                <a:spcPts val="400"/>
              </a:spcBef>
              <a:buNone/>
            </a:pPr>
            <a:r>
              <a:rPr lang="en-US" dirty="0">
                <a:solidFill>
                  <a:srgbClr val="346296"/>
                </a:solidFill>
              </a:rPr>
              <a:t>awakecoding.com/posts/enable-powershell-winrm-remoting-in-powershell-7</a:t>
            </a:r>
          </a:p>
          <a:p>
            <a:pPr>
              <a:spcBef>
                <a:spcPts val="1400"/>
              </a:spcBef>
              <a:buNone/>
            </a:pPr>
            <a:r>
              <a:rPr lang="en-US" b="1" dirty="0">
                <a:solidFill>
                  <a:srgbClr val="3B2A47"/>
                </a:solidFill>
              </a:rPr>
              <a:t>TrustedHosts: A Misunderstood Setting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“Trusted” hosts are actually </a:t>
            </a:r>
            <a:r>
              <a:rPr lang="en-US" b="1" dirty="0"/>
              <a:t>less</a:t>
            </a:r>
            <a:r>
              <a:rPr lang="en-US" dirty="0"/>
              <a:t> trustworthy — it’s a security exception list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System-wide, can’t be overridden per-app — customers must modify it for DVLS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NTLM deprecation + non-domain-joined machines = no good auth option for local WinRM</a:t>
            </a:r>
          </a:p>
          <a:p>
            <a:pPr marL="457200" indent="0">
              <a:spcBef>
                <a:spcPts val="400"/>
              </a:spcBef>
              <a:buNone/>
            </a:pPr>
            <a:r>
              <a:rPr lang="en-US" dirty="0">
                <a:solidFill>
                  <a:srgbClr val="346296"/>
                </a:solidFill>
              </a:rPr>
              <a:t>awakecoding.com/posts/powershell-remoting-trusted-hosts-what-does-it-mean</a:t>
            </a:r>
          </a:p>
        </p:txBody>
      </p:sp>
    </p:spTree>
    <p:extLst>
      <p:ext uri="{BB962C8B-B14F-4D97-AF65-F5344CB8AC3E}">
        <p14:creationId xmlns:p14="http://schemas.microsoft.com/office/powerpoint/2010/main" val="622359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167248-C99C-E892-89E1-4CBB81F02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sz="3000" b="1" dirty="0">
                <a:solidFill>
                  <a:srgbClr val="3B2A47"/>
                </a:solidFill>
              </a:rPr>
              <a:t>Custom C# PSRemoting Stack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ACAFC7-78CB-98F9-FEF3-D3E8C9FF6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3937000"/>
          </a:xfrm>
        </p:spPr>
        <p:txBody>
          <a:bodyPr anchor="t">
            <a:normAutofit fontScale="67500" lnSpcReduction="20000"/>
          </a:bodyPr>
          <a:lstStyle/>
          <a:p>
            <a:pPr>
              <a:spcBef>
                <a:spcPts val="200"/>
              </a:spcBef>
              <a:buNone/>
            </a:pPr>
            <a:r>
              <a:rPr lang="en-US" b="1" dirty="0">
                <a:solidFill>
                  <a:srgbClr val="3B2A47"/>
                </a:solidFill>
              </a:rPr>
              <a:t>Support for local and remote MS-PSRP transport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Local PowerShell subprocess in server mode, through standard input/output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Named pipe transports were originally attempted, but stdin is much easier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Remote PowerShell using </a:t>
            </a:r>
            <a:r>
              <a:rPr lang="en-US" dirty="0" err="1"/>
              <a:t>WinRM</a:t>
            </a:r>
            <a:r>
              <a:rPr lang="en-US" dirty="0"/>
              <a:t>, with greater control on connection sequence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Custom C# MS-PSRP stack has none of the PowerShell SDK limitations</a:t>
            </a:r>
          </a:p>
          <a:p>
            <a:pPr>
              <a:spcBef>
                <a:spcPts val="1400"/>
              </a:spcBef>
              <a:buNone/>
            </a:pPr>
            <a:r>
              <a:rPr lang="en-US" b="1" dirty="0">
                <a:solidFill>
                  <a:srgbClr val="3B2A47"/>
                </a:solidFill>
              </a:rPr>
              <a:t>Used in a variety of places where the PowerShell SDK fails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Connecting through Devolutions Gateway for Devolutions PAM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Interactive PowerShell Remoting from RDM Android or iOS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Non-interactive script execution from RDM through Devolutions Gateway</a:t>
            </a:r>
          </a:p>
        </p:txBody>
      </p:sp>
    </p:spTree>
    <p:extLst>
      <p:ext uri="{BB962C8B-B14F-4D97-AF65-F5344CB8AC3E}">
        <p14:creationId xmlns:p14="http://schemas.microsoft.com/office/powerpoint/2010/main" val="440732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0D80E-E38E-9144-95B1-5C1CBD7F2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02A2AC-643C-3A87-2C02-42EF7DDC4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991"/>
            <a:ext cx="9733280" cy="507831"/>
          </a:xfrm>
        </p:spPr>
        <p:txBody>
          <a:bodyPr>
            <a:spAutoFit/>
          </a:bodyPr>
          <a:lstStyle/>
          <a:p>
            <a:r>
              <a:rPr lang="en-US" sz="3000" dirty="0">
                <a:solidFill>
                  <a:srgbClr val="3B2A47"/>
                </a:solidFill>
              </a:rPr>
              <a:t>Directions for a Future PowerShell SDK</a:t>
            </a:r>
            <a:endParaRPr lang="en-US" sz="3000" b="1" dirty="0">
              <a:solidFill>
                <a:srgbClr val="3B2A47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12D8A-087A-F1B2-300B-DD80411A8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3937000"/>
          </a:xfrm>
        </p:spPr>
        <p:txBody>
          <a:bodyPr anchor="t">
            <a:normAutofit fontScale="90000" lnSpcReduction="20000"/>
          </a:bodyPr>
          <a:lstStyle/>
          <a:p>
            <a:pPr>
              <a:spcBef>
                <a:spcPts val="200"/>
              </a:spcBef>
              <a:buNone/>
            </a:pPr>
            <a:r>
              <a:rPr lang="en-US" b="1" dirty="0">
                <a:solidFill>
                  <a:srgbClr val="3B2A47"/>
                </a:solidFill>
              </a:rPr>
              <a:t>Review PowerShell SDK distribution model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Split client into smaller package that is excludes the entire PowerShell server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Add option to include PowerShell application host into build output (Start-Job!)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Enable reusing external </a:t>
            </a:r>
            <a:r>
              <a:rPr lang="en-US"/>
              <a:t>PowerShell installations </a:t>
            </a:r>
            <a:r>
              <a:rPr lang="en-US" dirty="0"/>
              <a:t>instead of shipping a full copy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Make PowerShell SDK easier to rebuild from source for custom distributions</a:t>
            </a:r>
          </a:p>
        </p:txBody>
      </p:sp>
    </p:spTree>
    <p:extLst>
      <p:ext uri="{BB962C8B-B14F-4D97-AF65-F5344CB8AC3E}">
        <p14:creationId xmlns:p14="http://schemas.microsoft.com/office/powerpoint/2010/main" val="458320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ctionTitle">
            <a:extLst>
              <a:ext uri="{FF2B5EF4-FFF2-40B4-BE49-F238E27FC236}">
                <a16:creationId xmlns:a16="http://schemas.microsoft.com/office/drawing/2014/main" id="{31F10735-0EA2-46DD-91EF-98437C9688E8}"/>
              </a:ext>
            </a:extLst>
          </p:cNvPr>
          <p:cNvSpPr txBox="1"/>
          <p:nvPr/>
        </p:nvSpPr>
        <p:spPr>
          <a:xfrm>
            <a:off x="609600" y="2236857"/>
            <a:ext cx="10972800" cy="70788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sz="4000" b="1" dirty="0" err="1">
                <a:solidFill>
                  <a:srgbClr val="346296"/>
                </a:solidFill>
                <a:latin typeface="Calibri"/>
              </a:rPr>
              <a:t>PSRemoting</a:t>
            </a:r>
            <a:r>
              <a:rPr lang="en-US" sz="4000" b="1" dirty="0">
                <a:solidFill>
                  <a:srgbClr val="346296"/>
                </a:solidFill>
                <a:latin typeface="Calibri"/>
              </a:rPr>
              <a:t> in the Browser</a:t>
            </a:r>
          </a:p>
        </p:txBody>
      </p:sp>
      <p:cxnSp>
        <p:nvCxnSpPr>
          <p:cNvPr id="8" name="Line">
            <a:extLst>
              <a:ext uri="{FF2B5EF4-FFF2-40B4-BE49-F238E27FC236}">
                <a16:creationId xmlns:a16="http://schemas.microsoft.com/office/drawing/2014/main" id="{F5115375-AE5E-4BF4-8E9F-1CB13FC8128F}"/>
              </a:ext>
            </a:extLst>
          </p:cNvPr>
          <p:cNvCxnSpPr/>
          <p:nvPr/>
        </p:nvCxnSpPr>
        <p:spPr>
          <a:xfrm>
            <a:off x="4572000" y="3429000"/>
            <a:ext cx="3048000" cy="0"/>
          </a:xfrm>
          <a:prstGeom prst="straightConnector1">
            <a:avLst/>
          </a:prstGeom>
          <a:ln w="12700" cap="flat" cmpd="sng" algn="ctr">
            <a:solidFill>
              <a:srgbClr val="346296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8008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2E208-1318-0A6B-D1EB-5B673FB56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solidFill>
                  <a:srgbClr val="3B2A47"/>
                </a:solidFill>
              </a:rPr>
              <a:t>PSRemoting in the Browser — </a:t>
            </a:r>
            <a:r>
              <a:rPr lang="en-US" sz="3000" b="1" dirty="0" err="1">
                <a:solidFill>
                  <a:srgbClr val="3B2A47"/>
                </a:solidFill>
              </a:rPr>
              <a:t>Javascript</a:t>
            </a:r>
            <a:r>
              <a:rPr lang="en-US" sz="3000" dirty="0">
                <a:solidFill>
                  <a:srgbClr val="3B2A47"/>
                </a:solidFill>
              </a:rPr>
              <a:t> Stack</a:t>
            </a:r>
            <a:endParaRPr lang="en-US" sz="3000" b="1" dirty="0">
              <a:solidFill>
                <a:srgbClr val="3B2A4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4D7BC-042C-0215-D537-5FFA00CE7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400"/>
              </a:spcBef>
              <a:buNone/>
            </a:pPr>
            <a:r>
              <a:rPr lang="en-US" sz="2000" dirty="0">
                <a:solidFill>
                  <a:srgbClr val="346296"/>
                </a:solidFill>
              </a:rPr>
              <a:t>Original implementation was in </a:t>
            </a:r>
            <a:r>
              <a:rPr lang="en-US" sz="2000" dirty="0" err="1">
                <a:solidFill>
                  <a:srgbClr val="346296"/>
                </a:solidFill>
              </a:rPr>
              <a:t>Javascript</a:t>
            </a:r>
            <a:endParaRPr lang="en-US" sz="2000" dirty="0">
              <a:solidFill>
                <a:srgbClr val="346296"/>
              </a:solidFill>
            </a:endParaRPr>
          </a:p>
          <a:p>
            <a:pPr>
              <a:spcBef>
                <a:spcPts val="1000"/>
              </a:spcBef>
              <a:buNone/>
            </a:pPr>
            <a:r>
              <a:rPr lang="en-US" sz="2200" b="1" dirty="0">
                <a:solidFill>
                  <a:srgbClr val="3B2A47"/>
                </a:solidFill>
              </a:rPr>
              <a:t>How it worked</a:t>
            </a:r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§"/>
            </a:pPr>
            <a:r>
              <a:rPr lang="en-US" sz="1900" b="1" dirty="0"/>
              <a:t>Pure </a:t>
            </a:r>
            <a:r>
              <a:rPr lang="en-US" sz="1900" b="1" dirty="0" err="1"/>
              <a:t>Javascript</a:t>
            </a:r>
            <a:r>
              <a:rPr lang="en-US" sz="1900" b="1" dirty="0"/>
              <a:t> implementation of MS-PSRP</a:t>
            </a:r>
            <a:r>
              <a:rPr lang="en-US" sz="1900" dirty="0"/>
              <a:t> – expertise from ITManager.net acquisition</a:t>
            </a:r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§"/>
            </a:pPr>
            <a:r>
              <a:rPr lang="en-US" sz="1900" b="1" dirty="0"/>
              <a:t>NTLM &amp; Kerberos in the browser</a:t>
            </a:r>
            <a:r>
              <a:rPr lang="en-US" sz="1900" dirty="0"/>
              <a:t> via </a:t>
            </a:r>
            <a:r>
              <a:rPr lang="en-US" sz="1900" dirty="0" err="1"/>
              <a:t>sspi-rs</a:t>
            </a:r>
            <a:r>
              <a:rPr lang="en-US" sz="1900" dirty="0"/>
              <a:t> compiled to WASM with </a:t>
            </a:r>
            <a:r>
              <a:rPr lang="en-US" sz="1900" dirty="0" err="1"/>
              <a:t>Javascript</a:t>
            </a:r>
            <a:r>
              <a:rPr lang="en-US" sz="1900" dirty="0"/>
              <a:t> bindings</a:t>
            </a:r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§"/>
            </a:pPr>
            <a:r>
              <a:rPr lang="en-US" sz="1900" b="1" dirty="0"/>
              <a:t>Devolutions Gateway</a:t>
            </a:r>
            <a:r>
              <a:rPr lang="en-US" sz="1900" dirty="0"/>
              <a:t> bridged WebSocket ↔ </a:t>
            </a:r>
            <a:r>
              <a:rPr lang="en-US" sz="1900" dirty="0" err="1"/>
              <a:t>WinRM</a:t>
            </a:r>
            <a:r>
              <a:rPr lang="en-US" sz="1900" dirty="0"/>
              <a:t> (HTTP inside a WSS tunnel)</a:t>
            </a:r>
            <a:endParaRPr lang="en-US" sz="1500" dirty="0"/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§"/>
            </a:pPr>
            <a:r>
              <a:rPr lang="en-US" sz="1900" b="1" dirty="0"/>
              <a:t>JIT KDC proxy</a:t>
            </a:r>
            <a:r>
              <a:rPr lang="en-US" sz="1900" dirty="0"/>
              <a:t> in Gateway provided Kerberos line-of-sight alongside the </a:t>
            </a:r>
            <a:r>
              <a:rPr lang="en-US" sz="1900" dirty="0" err="1"/>
              <a:t>WinRM</a:t>
            </a:r>
            <a:r>
              <a:rPr lang="en-US" sz="1900" dirty="0"/>
              <a:t> connection</a:t>
            </a:r>
          </a:p>
          <a:p>
            <a:pPr>
              <a:spcBef>
                <a:spcPts val="400"/>
              </a:spcBef>
            </a:pPr>
            <a:r>
              <a:rPr lang="en-US" sz="1900" b="1" dirty="0"/>
              <a:t>Interactive xterm.js terminal</a:t>
            </a:r>
            <a:r>
              <a:rPr lang="en-US" sz="1900" dirty="0"/>
              <a:t> to reconstruct a complete PowerShell console host</a:t>
            </a:r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§"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4048222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0D632-A087-390C-28B5-2CE136CE6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A5DAC-AD24-4CD7-8746-DC08C4FE3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solidFill>
                  <a:srgbClr val="3B2A47"/>
                </a:solidFill>
              </a:rPr>
              <a:t>PSRemoting in the Browser — </a:t>
            </a:r>
            <a:r>
              <a:rPr lang="en-US" sz="3000" b="1" dirty="0" err="1">
                <a:solidFill>
                  <a:srgbClr val="3B2A47"/>
                </a:solidFill>
              </a:rPr>
              <a:t>IronPosh</a:t>
            </a:r>
            <a:r>
              <a:rPr lang="en-US" sz="3000" b="1" dirty="0">
                <a:solidFill>
                  <a:srgbClr val="3B2A47"/>
                </a:solidFill>
              </a:rPr>
              <a:t> (Rust)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8461F-C472-D969-C6FB-39F00B61A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400"/>
              </a:spcBef>
              <a:buNone/>
            </a:pPr>
            <a:r>
              <a:rPr lang="en-US" sz="2000" dirty="0">
                <a:solidFill>
                  <a:srgbClr val="346296"/>
                </a:solidFill>
              </a:rPr>
              <a:t>Brand new MS-PSRP stack in Rust, compiled to WASM, ported to the browser</a:t>
            </a:r>
          </a:p>
          <a:p>
            <a:pPr>
              <a:spcBef>
                <a:spcPts val="1000"/>
              </a:spcBef>
              <a:buNone/>
            </a:pPr>
            <a:r>
              <a:rPr lang="en-US" sz="2200" b="1" dirty="0">
                <a:solidFill>
                  <a:srgbClr val="3B2A47"/>
                </a:solidFill>
              </a:rPr>
              <a:t>How it works</a:t>
            </a:r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§"/>
            </a:pPr>
            <a:r>
              <a:rPr lang="en-US" sz="1900" b="1" dirty="0"/>
              <a:t>Pure Rust PSRemoting stack</a:t>
            </a:r>
            <a:r>
              <a:rPr lang="en-US" sz="1900" dirty="0"/>
              <a:t> compiled to WebAssembly</a:t>
            </a:r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§"/>
            </a:pPr>
            <a:r>
              <a:rPr lang="en-US" sz="1900" b="1" dirty="0"/>
              <a:t>NTLM &amp; Kerberos in the browser</a:t>
            </a:r>
            <a:r>
              <a:rPr lang="en-US" sz="1900" dirty="0"/>
              <a:t> via </a:t>
            </a:r>
            <a:r>
              <a:rPr lang="en-US" sz="1900" dirty="0" err="1"/>
              <a:t>sspi-rs</a:t>
            </a:r>
            <a:r>
              <a:rPr lang="en-US" sz="1900" dirty="0"/>
              <a:t>, without bindings (Rust to Rust)</a:t>
            </a:r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§"/>
            </a:pPr>
            <a:r>
              <a:rPr lang="en-US" sz="1900" b="1" dirty="0"/>
              <a:t>Devolutions Gateway</a:t>
            </a:r>
            <a:r>
              <a:rPr lang="en-US" sz="1900" dirty="0"/>
              <a:t> bridges WebSocket ↔ </a:t>
            </a:r>
            <a:r>
              <a:rPr lang="en-US" sz="1900" dirty="0" err="1"/>
              <a:t>WinRM</a:t>
            </a:r>
            <a:r>
              <a:rPr lang="en-US" sz="1900" dirty="0"/>
              <a:t> (same as before, HTTP inside WSS)</a:t>
            </a:r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§"/>
            </a:pPr>
            <a:r>
              <a:rPr lang="en-US" sz="1900" b="1" dirty="0"/>
              <a:t>JIT KDC proxy</a:t>
            </a:r>
            <a:r>
              <a:rPr lang="en-US" sz="1900" dirty="0"/>
              <a:t> in Gateway provides Kerberos line-of-sight alongside the </a:t>
            </a:r>
            <a:r>
              <a:rPr lang="en-US" sz="1900" dirty="0" err="1"/>
              <a:t>WinRM</a:t>
            </a:r>
            <a:r>
              <a:rPr lang="en-US" sz="1900" dirty="0"/>
              <a:t> connection</a:t>
            </a:r>
          </a:p>
          <a:p>
            <a:pPr>
              <a:spcBef>
                <a:spcPts val="400"/>
              </a:spcBef>
            </a:pPr>
            <a:r>
              <a:rPr lang="en-US" sz="1900" b="1" dirty="0"/>
              <a:t>Interactive xterm.js terminal</a:t>
            </a:r>
            <a:r>
              <a:rPr lang="en-US" sz="1900" dirty="0"/>
              <a:t> to reconstruct a complete PowerShell console host</a:t>
            </a:r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§"/>
            </a:pPr>
            <a:endParaRPr lang="en-US" sz="1900" dirty="0"/>
          </a:p>
          <a:p>
            <a:pPr>
              <a:spcBef>
                <a:spcPts val="800"/>
              </a:spcBef>
              <a:buNone/>
            </a:pPr>
            <a:r>
              <a:rPr lang="en-US" sz="1700" i="1" dirty="0">
                <a:solidFill>
                  <a:srgbClr val="346296"/>
                </a:solidFill>
              </a:rPr>
              <a:t>github.com/Devolutions/ironposh</a:t>
            </a:r>
          </a:p>
        </p:txBody>
      </p:sp>
    </p:spTree>
    <p:extLst>
      <p:ext uri="{BB962C8B-B14F-4D97-AF65-F5344CB8AC3E}">
        <p14:creationId xmlns:p14="http://schemas.microsoft.com/office/powerpoint/2010/main" val="38840899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">
            <a:extLst>
              <a:ext uri="{FF2B5EF4-FFF2-40B4-BE49-F238E27FC236}">
                <a16:creationId xmlns:a16="http://schemas.microsoft.com/office/drawing/2014/main" id="{3122F8B0-9543-4BC5-BE9C-7B335D67B300}"/>
              </a:ext>
            </a:extLst>
          </p:cNvPr>
          <p:cNvSpPr txBox="1"/>
          <p:nvPr/>
        </p:nvSpPr>
        <p:spPr>
          <a:xfrm>
            <a:off x="381000" y="8890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400" b="1">
                <a:solidFill>
                  <a:srgbClr val="3B2A47"/>
                </a:solidFill>
                <a:latin typeface="Calibri"/>
                <a:ea typeface="Calibri"/>
                <a:cs typeface="Calibri"/>
              </a:rPr>
              <a:t>PSRemoting in the Browser — Architecture</a:t>
            </a:r>
            <a:endParaRPr lang="en-CA" sz="2400" b="1">
              <a:solidFill>
                <a:srgbClr val="3B2A4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Hdr0">
            <a:extLst>
              <a:ext uri="{FF2B5EF4-FFF2-40B4-BE49-F238E27FC236}">
                <a16:creationId xmlns:a16="http://schemas.microsoft.com/office/drawing/2014/main" id="{2CE782AA-3701-4A25-8FF4-8C6E34310ADC}"/>
              </a:ext>
            </a:extLst>
          </p:cNvPr>
          <p:cNvSpPr/>
          <p:nvPr/>
        </p:nvSpPr>
        <p:spPr>
          <a:xfrm>
            <a:off x="762000" y="1651000"/>
            <a:ext cx="2794000" cy="381000"/>
          </a:xfrm>
          <a:prstGeom prst="rect">
            <a:avLst/>
          </a:prstGeom>
          <a:solidFill>
            <a:srgbClr val="34629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CA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Browser</a:t>
            </a:r>
          </a:p>
        </p:txBody>
      </p:sp>
      <p:sp>
        <p:nvSpPr>
          <p:cNvPr id="20" name="Hdr1">
            <a:extLst>
              <a:ext uri="{FF2B5EF4-FFF2-40B4-BE49-F238E27FC236}">
                <a16:creationId xmlns:a16="http://schemas.microsoft.com/office/drawing/2014/main" id="{868520C1-AA41-437E-8DE1-E63A69BDD04E}"/>
              </a:ext>
            </a:extLst>
          </p:cNvPr>
          <p:cNvSpPr/>
          <p:nvPr/>
        </p:nvSpPr>
        <p:spPr>
          <a:xfrm>
            <a:off x="4699000" y="1651000"/>
            <a:ext cx="2794000" cy="381000"/>
          </a:xfrm>
          <a:prstGeom prst="rect">
            <a:avLst/>
          </a:prstGeom>
          <a:solidFill>
            <a:srgbClr val="1F7A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CA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Devolutions Gateway</a:t>
            </a:r>
          </a:p>
        </p:txBody>
      </p:sp>
      <p:sp>
        <p:nvSpPr>
          <p:cNvPr id="21" name="Hdr2">
            <a:extLst>
              <a:ext uri="{FF2B5EF4-FFF2-40B4-BE49-F238E27FC236}">
                <a16:creationId xmlns:a16="http://schemas.microsoft.com/office/drawing/2014/main" id="{7A73A4BA-28AD-49E2-8F39-1910D7463AF0}"/>
              </a:ext>
            </a:extLst>
          </p:cNvPr>
          <p:cNvSpPr/>
          <p:nvPr/>
        </p:nvSpPr>
        <p:spPr>
          <a:xfrm>
            <a:off x="8636000" y="1651000"/>
            <a:ext cx="2794000" cy="381000"/>
          </a:xfrm>
          <a:prstGeom prst="rect">
            <a:avLst/>
          </a:prstGeom>
          <a:solidFill>
            <a:srgbClr val="3B2A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CA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WinRM Server</a:t>
            </a:r>
          </a:p>
        </p:txBody>
      </p:sp>
      <p:sp>
        <p:nvSpPr>
          <p:cNvPr id="22" name="Browser">
            <a:extLst>
              <a:ext uri="{FF2B5EF4-FFF2-40B4-BE49-F238E27FC236}">
                <a16:creationId xmlns:a16="http://schemas.microsoft.com/office/drawing/2014/main" id="{204E5DF1-19CA-46EA-AA3E-E561D1CA829B}"/>
              </a:ext>
            </a:extLst>
          </p:cNvPr>
          <p:cNvSpPr/>
          <p:nvPr/>
        </p:nvSpPr>
        <p:spPr>
          <a:xfrm>
            <a:off x="762000" y="2133600"/>
            <a:ext cx="2794000" cy="1016000"/>
          </a:xfrm>
          <a:prstGeom prst="rect">
            <a:avLst/>
          </a:prstGeom>
          <a:solidFill>
            <a:srgbClr val="E8ED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200" dirty="0">
                <a:solidFill>
                  <a:srgbClr val="1A1A1A"/>
                </a:solidFill>
                <a:latin typeface="Calibri"/>
              </a:rPr>
              <a:t>IronPosh (Rust → WASM)
PSRemoting client + sspi-rs
NTLM / Kerberos in browser</a:t>
            </a:r>
          </a:p>
        </p:txBody>
      </p:sp>
      <p:sp>
        <p:nvSpPr>
          <p:cNvPr id="23" name="Gateway">
            <a:extLst>
              <a:ext uri="{FF2B5EF4-FFF2-40B4-BE49-F238E27FC236}">
                <a16:creationId xmlns:a16="http://schemas.microsoft.com/office/drawing/2014/main" id="{17BD2ACA-4035-44B9-8482-04C9E934EEE8}"/>
              </a:ext>
            </a:extLst>
          </p:cNvPr>
          <p:cNvSpPr/>
          <p:nvPr/>
        </p:nvSpPr>
        <p:spPr>
          <a:xfrm>
            <a:off x="4699000" y="2133600"/>
            <a:ext cx="2794000" cy="1016000"/>
          </a:xfrm>
          <a:prstGeom prst="rect">
            <a:avLst/>
          </a:prstGeom>
          <a:solidFill>
            <a:srgbClr val="E8F3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WebSocket ↔ WinRM bridge
Terminates WS, forwards
MS-PSRP frames to WinRM</a:t>
            </a:r>
            <a:endParaRPr lang="en-CA" sz="120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WinRMSrv">
            <a:extLst>
              <a:ext uri="{FF2B5EF4-FFF2-40B4-BE49-F238E27FC236}">
                <a16:creationId xmlns:a16="http://schemas.microsoft.com/office/drawing/2014/main" id="{0B60A539-F49C-44BE-8048-C113E81A367C}"/>
              </a:ext>
            </a:extLst>
          </p:cNvPr>
          <p:cNvSpPr/>
          <p:nvPr/>
        </p:nvSpPr>
        <p:spPr>
          <a:xfrm>
            <a:off x="8636000" y="2133600"/>
            <a:ext cx="2794000" cy="1016000"/>
          </a:xfrm>
          <a:prstGeom prst="rect">
            <a:avLst/>
          </a:prstGeom>
          <a:solidFill>
            <a:srgbClr val="ECE8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CA"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WinRM Service
pwsh.exe session
(MS-PSRP endpoint)</a:t>
            </a:r>
          </a:p>
        </p:txBody>
      </p:sp>
      <p:sp>
        <p:nvSpPr>
          <p:cNvPr id="25" name="WSTransport">
            <a:extLst>
              <a:ext uri="{FF2B5EF4-FFF2-40B4-BE49-F238E27FC236}">
                <a16:creationId xmlns:a16="http://schemas.microsoft.com/office/drawing/2014/main" id="{13BB355B-01C5-4910-BF8F-4FF21D7423EC}"/>
              </a:ext>
            </a:extLst>
          </p:cNvPr>
          <p:cNvSpPr/>
          <p:nvPr/>
        </p:nvSpPr>
        <p:spPr>
          <a:xfrm>
            <a:off x="3606800" y="2413000"/>
            <a:ext cx="1041400" cy="457200"/>
          </a:xfrm>
          <a:prstGeom prst="rect">
            <a:avLst/>
          </a:prstGeom>
          <a:solidFill>
            <a:srgbClr val="B4530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CA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WebSocket
(TLS)</a:t>
            </a:r>
          </a:p>
        </p:txBody>
      </p:sp>
      <p:sp>
        <p:nvSpPr>
          <p:cNvPr id="26" name="WinRMTransport">
            <a:extLst>
              <a:ext uri="{FF2B5EF4-FFF2-40B4-BE49-F238E27FC236}">
                <a16:creationId xmlns:a16="http://schemas.microsoft.com/office/drawing/2014/main" id="{1867A548-899D-4E09-BA6E-063105FBC542}"/>
              </a:ext>
            </a:extLst>
          </p:cNvPr>
          <p:cNvSpPr/>
          <p:nvPr/>
        </p:nvSpPr>
        <p:spPr>
          <a:xfrm>
            <a:off x="7543800" y="2413000"/>
            <a:ext cx="1041400" cy="457200"/>
          </a:xfrm>
          <a:prstGeom prst="rect">
            <a:avLst/>
          </a:prstGeom>
          <a:solidFill>
            <a:srgbClr val="B4530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CA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WinRM
(HTTP/S)</a:t>
            </a:r>
          </a:p>
        </p:txBody>
      </p:sp>
      <p:sp>
        <p:nvSpPr>
          <p:cNvPr id="27" name="KrbCli">
            <a:extLst>
              <a:ext uri="{FF2B5EF4-FFF2-40B4-BE49-F238E27FC236}">
                <a16:creationId xmlns:a16="http://schemas.microsoft.com/office/drawing/2014/main" id="{D1CD03C2-8FE3-4F3E-96FF-309A213D315A}"/>
              </a:ext>
            </a:extLst>
          </p:cNvPr>
          <p:cNvSpPr/>
          <p:nvPr/>
        </p:nvSpPr>
        <p:spPr>
          <a:xfrm>
            <a:off x="762000" y="3429000"/>
            <a:ext cx="2794000" cy="889000"/>
          </a:xfrm>
          <a:prstGeom prst="rect">
            <a:avLst/>
          </a:prstGeom>
          <a:solidFill>
            <a:srgbClr val="E8ED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sspi-rs (in WASM)
Requests Kerberos tickets
for target SPN</a:t>
            </a:r>
            <a:endParaRPr lang="en-CA" sz="120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KDCProxy">
            <a:extLst>
              <a:ext uri="{FF2B5EF4-FFF2-40B4-BE49-F238E27FC236}">
                <a16:creationId xmlns:a16="http://schemas.microsoft.com/office/drawing/2014/main" id="{17D8C35F-1739-46C2-8A00-BEA67356CF96}"/>
              </a:ext>
            </a:extLst>
          </p:cNvPr>
          <p:cNvSpPr/>
          <p:nvPr/>
        </p:nvSpPr>
        <p:spPr>
          <a:xfrm>
            <a:off x="4699000" y="3429000"/>
            <a:ext cx="2794000" cy="889000"/>
          </a:xfrm>
          <a:prstGeom prst="rect">
            <a:avLst/>
          </a:prstGeom>
          <a:solidFill>
            <a:srgbClr val="E8F3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JIT KDC Proxy
Forwards AS/TGS requests
to domain KDC on demand</a:t>
            </a:r>
            <a:endParaRPr lang="en-CA" sz="120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KDC">
            <a:extLst>
              <a:ext uri="{FF2B5EF4-FFF2-40B4-BE49-F238E27FC236}">
                <a16:creationId xmlns:a16="http://schemas.microsoft.com/office/drawing/2014/main" id="{263A22E6-530B-4E34-8585-419239B179A9}"/>
              </a:ext>
            </a:extLst>
          </p:cNvPr>
          <p:cNvSpPr/>
          <p:nvPr/>
        </p:nvSpPr>
        <p:spPr>
          <a:xfrm>
            <a:off x="8636000" y="3429000"/>
            <a:ext cx="2794000" cy="889000"/>
          </a:xfrm>
          <a:prstGeom prst="rect">
            <a:avLst/>
          </a:prstGeom>
          <a:solidFill>
            <a:srgbClr val="ECE8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Domain KDC
(Active Directory)
Issues Kerberos tickets</a:t>
            </a:r>
            <a:endParaRPr lang="en-CA" sz="120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KrbProxyHttp">
            <a:extLst>
              <a:ext uri="{FF2B5EF4-FFF2-40B4-BE49-F238E27FC236}">
                <a16:creationId xmlns:a16="http://schemas.microsoft.com/office/drawing/2014/main" id="{180D6DE6-6DED-4895-8EEB-C6482FF076B6}"/>
              </a:ext>
            </a:extLst>
          </p:cNvPr>
          <p:cNvSpPr/>
          <p:nvPr/>
        </p:nvSpPr>
        <p:spPr>
          <a:xfrm>
            <a:off x="3606800" y="3644900"/>
            <a:ext cx="1041400" cy="457200"/>
          </a:xfrm>
          <a:prstGeom prst="rect">
            <a:avLst/>
          </a:prstGeom>
          <a:solidFill>
            <a:srgbClr val="B4530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CA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KDC Proxy
(HTTPS)</a:t>
            </a:r>
          </a:p>
        </p:txBody>
      </p:sp>
      <p:sp>
        <p:nvSpPr>
          <p:cNvPr id="31" name="KrbKdc">
            <a:extLst>
              <a:ext uri="{FF2B5EF4-FFF2-40B4-BE49-F238E27FC236}">
                <a16:creationId xmlns:a16="http://schemas.microsoft.com/office/drawing/2014/main" id="{059036B6-3700-4556-B18D-FDC5D2DE466D}"/>
              </a:ext>
            </a:extLst>
          </p:cNvPr>
          <p:cNvSpPr/>
          <p:nvPr/>
        </p:nvSpPr>
        <p:spPr>
          <a:xfrm>
            <a:off x="7543800" y="3644900"/>
            <a:ext cx="1041400" cy="457200"/>
          </a:xfrm>
          <a:prstGeom prst="rect">
            <a:avLst/>
          </a:prstGeom>
          <a:solidFill>
            <a:srgbClr val="B4530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CA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Kerberos
(TCP 88)</a:t>
            </a:r>
          </a:p>
        </p:txBody>
      </p:sp>
      <p:sp>
        <p:nvSpPr>
          <p:cNvPr id="32" name="Insight">
            <a:extLst>
              <a:ext uri="{FF2B5EF4-FFF2-40B4-BE49-F238E27FC236}">
                <a16:creationId xmlns:a16="http://schemas.microsoft.com/office/drawing/2014/main" id="{732D1F33-FC2A-4B15-B91D-0FA4257EA7F2}"/>
              </a:ext>
            </a:extLst>
          </p:cNvPr>
          <p:cNvSpPr/>
          <p:nvPr/>
        </p:nvSpPr>
        <p:spPr>
          <a:xfrm>
            <a:off x="762000" y="4597400"/>
            <a:ext cx="10668000" cy="508000"/>
          </a:xfrm>
          <a:prstGeom prst="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Devolutions Gateway provides line-of-sight to the KDC for the browser — no direct domain controller reachability required from the client</a:t>
            </a:r>
            <a:endParaRPr lang="en-CA" sz="1200" dirty="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Repo">
            <a:extLst>
              <a:ext uri="{FF2B5EF4-FFF2-40B4-BE49-F238E27FC236}">
                <a16:creationId xmlns:a16="http://schemas.microsoft.com/office/drawing/2014/main" id="{7429D9E2-50DA-4ABC-B2CC-CEE0C553284F}"/>
              </a:ext>
            </a:extLst>
          </p:cNvPr>
          <p:cNvSpPr txBox="1"/>
          <p:nvPr/>
        </p:nvSpPr>
        <p:spPr>
          <a:xfrm>
            <a:off x="762000" y="51816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1300" i="1">
                <a:solidFill>
                  <a:srgbClr val="346296"/>
                </a:solidFill>
                <a:latin typeface="Calibri"/>
                <a:ea typeface="Calibri"/>
                <a:cs typeface="Calibri"/>
              </a:rPr>
              <a:t>github.com/Devolutions/ironposh</a:t>
            </a:r>
          </a:p>
        </p:txBody>
      </p:sp>
    </p:spTree>
    <p:extLst>
      <p:ext uri="{BB962C8B-B14F-4D97-AF65-F5344CB8AC3E}">
        <p14:creationId xmlns:p14="http://schemas.microsoft.com/office/powerpoint/2010/main" val="13786522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C2B4B-CF61-3DC5-6221-F5F99F86F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/>
        </p:nvSpPr>
        <p:spPr>
          <a:xfrm>
            <a:off x="838200" y="457200"/>
            <a:ext cx="9906000" cy="762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3000" b="1" dirty="0">
                <a:solidFill>
                  <a:srgbClr val="3B2A47"/>
                </a:solidFill>
              </a:rPr>
              <a:t>Lessons Learned</a:t>
            </a:r>
          </a:p>
        </p:txBody>
      </p:sp>
      <p:sp>
        <p:nvSpPr>
          <p:cNvPr id="11" name="Body"/>
          <p:cNvSpPr>
            <a:spLocks noGrp="1"/>
          </p:cNvSpPr>
          <p:nvPr/>
        </p:nvSpPr>
        <p:spPr>
          <a:xfrm>
            <a:off x="838200" y="1371600"/>
            <a:ext cx="9906000" cy="4114800"/>
          </a:xfrm>
          <a:prstGeom prst="rect">
            <a:avLst/>
          </a:prstGeom>
          <a:noFill/>
        </p:spPr>
        <p:txBody>
          <a:bodyPr anchor="t"/>
          <a:lstStyle/>
          <a:p>
            <a:pPr>
              <a:spcBef>
                <a:spcPts val="200"/>
              </a:spcBef>
              <a:buNone/>
            </a:pPr>
            <a:r>
              <a:rPr lang="en-US" sz="2600" b="1" dirty="0">
                <a:solidFill>
                  <a:srgbClr val="3B2A47"/>
                </a:solidFill>
              </a:rPr>
              <a:t>The PowerShell SDK is a starting point, it’s not flexible enough</a:t>
            </a:r>
          </a:p>
          <a:p>
            <a:pPr marL="228600" indent="-228600">
              <a:spcBef>
                <a:spcPts val="300"/>
              </a:spcBef>
              <a:buFont typeface="Wingdings" pitchFamily="2" charset="2"/>
              <a:buChar char="§"/>
            </a:pPr>
            <a:r>
              <a:rPr lang="en-US" sz="2200" dirty="0"/>
              <a:t>For advanced use cases like ours, you’ll want to build your own stack</a:t>
            </a:r>
          </a:p>
          <a:p>
            <a:pPr>
              <a:spcBef>
                <a:spcPts val="1200"/>
              </a:spcBef>
              <a:buNone/>
            </a:pPr>
            <a:r>
              <a:rPr lang="en-US" sz="2600" b="1" dirty="0" err="1">
                <a:solidFill>
                  <a:srgbClr val="3B2A47"/>
                </a:solidFill>
              </a:rPr>
              <a:t>WinRM</a:t>
            </a:r>
            <a:r>
              <a:rPr lang="en-US" sz="2600" b="1" dirty="0">
                <a:solidFill>
                  <a:srgbClr val="3B2A47"/>
                </a:solidFill>
              </a:rPr>
              <a:t> is very much alive, while we observe very little SSH adoption</a:t>
            </a:r>
          </a:p>
          <a:p>
            <a:pPr marL="228600" indent="-228600">
              <a:spcBef>
                <a:spcPts val="300"/>
              </a:spcBef>
              <a:buFont typeface="Wingdings" pitchFamily="2" charset="2"/>
              <a:buChar char="§"/>
            </a:pPr>
            <a:r>
              <a:rPr lang="en-US" sz="2200" dirty="0"/>
              <a:t>Why replace something that works very well in an Active Directory environment?</a:t>
            </a:r>
          </a:p>
          <a:p>
            <a:pPr>
              <a:spcBef>
                <a:spcPts val="1200"/>
              </a:spcBef>
              <a:buNone/>
            </a:pPr>
            <a:r>
              <a:rPr lang="en-US" sz="2600" b="1" dirty="0">
                <a:solidFill>
                  <a:srgbClr val="3B2A47"/>
                </a:solidFill>
              </a:rPr>
              <a:t>Local </a:t>
            </a:r>
            <a:r>
              <a:rPr lang="en-US" sz="2600" b="1" dirty="0" err="1">
                <a:solidFill>
                  <a:srgbClr val="3B2A47"/>
                </a:solidFill>
              </a:rPr>
              <a:t>PSRemoting</a:t>
            </a:r>
            <a:r>
              <a:rPr lang="en-US" sz="2600" b="1" dirty="0">
                <a:solidFill>
                  <a:srgbClr val="3B2A47"/>
                </a:solidFill>
              </a:rPr>
              <a:t> through subprocesses is extremely powerful</a:t>
            </a:r>
          </a:p>
          <a:p>
            <a:pPr marL="228600" indent="-228600">
              <a:spcBef>
                <a:spcPts val="300"/>
              </a:spcBef>
              <a:buFont typeface="Wingdings" pitchFamily="2" charset="2"/>
              <a:buChar char="§"/>
            </a:pPr>
            <a:r>
              <a:rPr lang="en-US" sz="2200" dirty="0"/>
              <a:t>An assembly load context? What’s that? I have process isolation now!</a:t>
            </a:r>
          </a:p>
          <a:p>
            <a:pPr>
              <a:spcBef>
                <a:spcPts val="1200"/>
              </a:spcBef>
              <a:buNone/>
            </a:pPr>
            <a:r>
              <a:rPr lang="en-US" sz="2600" b="1" dirty="0">
                <a:solidFill>
                  <a:srgbClr val="3B2A47"/>
                </a:solidFill>
              </a:rPr>
              <a:t>We solved cross-platform Kerberos – use </a:t>
            </a:r>
            <a:r>
              <a:rPr lang="en-US" sz="2600" b="1" dirty="0" err="1">
                <a:solidFill>
                  <a:srgbClr val="3B2A47"/>
                </a:solidFill>
              </a:rPr>
              <a:t>sspi-rs</a:t>
            </a:r>
          </a:p>
          <a:p>
            <a:pPr marL="228600" indent="-228600">
              <a:spcBef>
                <a:spcPts val="300"/>
              </a:spcBef>
              <a:buFont typeface="Wingdings" pitchFamily="2" charset="2"/>
              <a:buChar char="§"/>
            </a:pPr>
            <a:r>
              <a:rPr lang="en-US" sz="2200" dirty="0"/>
              <a:t>Don’t build your own, it’s a very complex stack, reuse ours instead</a:t>
            </a:r>
          </a:p>
        </p:txBody>
      </p:sp>
    </p:spTree>
    <p:extLst>
      <p:ext uri="{BB962C8B-B14F-4D97-AF65-F5344CB8AC3E}">
        <p14:creationId xmlns:p14="http://schemas.microsoft.com/office/powerpoint/2010/main" val="29120939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53F7A-197B-C0B4-FC47-BEA6B41DA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8B180227-C41B-95B7-C661-E58D03B21473}"/>
              </a:ext>
            </a:extLst>
          </p:cNvPr>
          <p:cNvSpPr>
            <a:spLocks noGrp="1"/>
          </p:cNvSpPr>
          <p:nvPr/>
        </p:nvSpPr>
        <p:spPr>
          <a:xfrm>
            <a:off x="838200" y="457200"/>
            <a:ext cx="9906000" cy="762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3000" b="1" dirty="0">
                <a:solidFill>
                  <a:srgbClr val="3B2A47"/>
                </a:solidFill>
              </a:rPr>
              <a:t>Future Development Ideas for Devolutions</a:t>
            </a:r>
          </a:p>
        </p:txBody>
      </p:sp>
      <p:sp>
        <p:nvSpPr>
          <p:cNvPr id="11" name="Body">
            <a:extLst>
              <a:ext uri="{FF2B5EF4-FFF2-40B4-BE49-F238E27FC236}">
                <a16:creationId xmlns:a16="http://schemas.microsoft.com/office/drawing/2014/main" id="{A04AACE9-0F7F-F2A7-C41C-1D28F01429EE}"/>
              </a:ext>
            </a:extLst>
          </p:cNvPr>
          <p:cNvSpPr>
            <a:spLocks noGrp="1"/>
          </p:cNvSpPr>
          <p:nvPr/>
        </p:nvSpPr>
        <p:spPr>
          <a:xfrm>
            <a:off x="838200" y="1371600"/>
            <a:ext cx="9906000" cy="4114800"/>
          </a:xfrm>
          <a:prstGeom prst="rect">
            <a:avLst/>
          </a:prstGeom>
          <a:noFill/>
        </p:spPr>
        <p:txBody>
          <a:bodyPr anchor="t"/>
          <a:lstStyle/>
          <a:p>
            <a:pPr>
              <a:spcBef>
                <a:spcPts val="200"/>
              </a:spcBef>
              <a:buNone/>
            </a:pPr>
            <a:r>
              <a:rPr lang="en-US" sz="2600" b="1" dirty="0">
                <a:solidFill>
                  <a:srgbClr val="3B2A47"/>
                </a:solidFill>
              </a:rPr>
              <a:t>Custom PowerShell SDK distribution</a:t>
            </a:r>
          </a:p>
          <a:p>
            <a:pPr marL="228600" indent="-228600">
              <a:spcBef>
                <a:spcPts val="300"/>
              </a:spcBef>
              <a:buFont typeface="Wingdings" pitchFamily="2" charset="2"/>
              <a:buChar char="§"/>
            </a:pPr>
            <a:r>
              <a:rPr lang="en-US" sz="2200" dirty="0"/>
              <a:t>Add missing pwsh.dll + apphost.exe as an option</a:t>
            </a:r>
          </a:p>
          <a:p>
            <a:pPr marL="228600" indent="-228600">
              <a:spcBef>
                <a:spcPts val="300"/>
              </a:spcBef>
              <a:buFont typeface="Wingdings" pitchFamily="2" charset="2"/>
              <a:buChar char="§"/>
            </a:pPr>
            <a:r>
              <a:rPr lang="en-US" sz="2200" dirty="0"/>
              <a:t>Integrate multi-</a:t>
            </a:r>
            <a:r>
              <a:rPr lang="en-US" sz="2200" dirty="0" err="1"/>
              <a:t>pwsh</a:t>
            </a:r>
            <a:r>
              <a:rPr lang="en-US" sz="2200" dirty="0"/>
              <a:t> as an alternative to apphost.exe</a:t>
            </a:r>
          </a:p>
          <a:p>
            <a:pPr marL="228600" indent="-228600">
              <a:spcBef>
                <a:spcPts val="300"/>
              </a:spcBef>
              <a:buFont typeface="Wingdings" pitchFamily="2" charset="2"/>
              <a:buChar char="§"/>
            </a:pPr>
            <a:r>
              <a:rPr lang="en-US" sz="2200" dirty="0"/>
              <a:t>Start patching things in the PowerShell core to meet our needs</a:t>
            </a:r>
          </a:p>
          <a:p>
            <a:pPr>
              <a:spcBef>
                <a:spcPts val="1200"/>
              </a:spcBef>
              <a:buNone/>
            </a:pPr>
            <a:r>
              <a:rPr lang="en-US" sz="2600" b="1" dirty="0">
                <a:solidFill>
                  <a:srgbClr val="3B2A47"/>
                </a:solidFill>
              </a:rPr>
              <a:t>Replace Win32-OpenSSH with pure .NET SSH client stack</a:t>
            </a:r>
          </a:p>
          <a:p>
            <a:pPr marL="228600" indent="-228600">
              <a:spcBef>
                <a:spcPts val="300"/>
              </a:spcBef>
              <a:buFont typeface="Wingdings" pitchFamily="2" charset="2"/>
              <a:buChar char="§"/>
            </a:pPr>
            <a:r>
              <a:rPr lang="en-US" sz="2200" dirty="0"/>
              <a:t>Expose Enter-</a:t>
            </a:r>
            <a:r>
              <a:rPr lang="en-US" sz="2200" dirty="0" err="1"/>
              <a:t>RdmPSSession</a:t>
            </a:r>
            <a:r>
              <a:rPr lang="en-US" sz="2200" dirty="0"/>
              <a:t> cmdlet built on top of RDM core</a:t>
            </a:r>
          </a:p>
          <a:p>
            <a:pPr marL="228600" indent="-228600">
              <a:spcBef>
                <a:spcPts val="300"/>
              </a:spcBef>
              <a:buFont typeface="Wingdings" pitchFamily="2" charset="2"/>
              <a:buChar char="§"/>
            </a:pPr>
            <a:r>
              <a:rPr lang="en-US" sz="2200" dirty="0"/>
              <a:t>Get rid of our custom Win32-OpenSSH distribution (less C libraries!)</a:t>
            </a:r>
          </a:p>
          <a:p>
            <a:pPr>
              <a:spcBef>
                <a:spcPts val="1200"/>
              </a:spcBef>
              <a:buNone/>
            </a:pPr>
            <a:r>
              <a:rPr lang="en-US" sz="2600" b="1" dirty="0">
                <a:solidFill>
                  <a:srgbClr val="3B2A47"/>
                </a:solidFill>
              </a:rPr>
              <a:t>Make </a:t>
            </a:r>
            <a:r>
              <a:rPr lang="en-US" sz="2600" b="1" dirty="0" err="1">
                <a:solidFill>
                  <a:srgbClr val="3B2A47"/>
                </a:solidFill>
              </a:rPr>
              <a:t>gRPC</a:t>
            </a:r>
            <a:r>
              <a:rPr lang="en-US" sz="2600" b="1" dirty="0">
                <a:solidFill>
                  <a:srgbClr val="3B2A47"/>
                </a:solidFill>
              </a:rPr>
              <a:t> a first-class </a:t>
            </a:r>
            <a:r>
              <a:rPr lang="en-US" sz="2600" b="1" dirty="0" err="1">
                <a:solidFill>
                  <a:srgbClr val="3B2A47"/>
                </a:solidFill>
              </a:rPr>
              <a:t>PSRemoting</a:t>
            </a:r>
            <a:r>
              <a:rPr lang="en-US" sz="2600" b="1" dirty="0">
                <a:solidFill>
                  <a:srgbClr val="3B2A47"/>
                </a:solidFill>
              </a:rPr>
              <a:t> transport type</a:t>
            </a:r>
          </a:p>
          <a:p>
            <a:pPr marL="228600" indent="-228600">
              <a:spcBef>
                <a:spcPts val="300"/>
              </a:spcBef>
              <a:buFont typeface="Wingdings" pitchFamily="2" charset="2"/>
              <a:buChar char="§"/>
            </a:pPr>
            <a:r>
              <a:rPr lang="en-US" sz="2200" dirty="0"/>
              <a:t>No choice now that it’s been featured in Jeffrey Snover’s presentation </a:t>
            </a:r>
            <a:r>
              <a:rPr lang="en-US" sz="2200" dirty="0">
                <a:sym typeface="Wingdings" panose="05000000000000000000" pitchFamily="2" charset="2"/>
              </a:rPr>
              <a:t>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4122846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063F7B61-5334-421F-9456-A905D333F4B3}"/>
              </a:ext>
            </a:extLst>
          </p:cNvPr>
          <p:cNvSpPr txBox="1">
            <a:spLocks/>
          </p:cNvSpPr>
          <p:nvPr/>
        </p:nvSpPr>
        <p:spPr>
          <a:xfrm>
            <a:off x="831850" y="529389"/>
            <a:ext cx="10515600" cy="10046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3B2B4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Q&amp;A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7911686-C4FE-022C-2490-99F4F5BFDF39}"/>
              </a:ext>
            </a:extLst>
          </p:cNvPr>
          <p:cNvSpPr txBox="1">
            <a:spLocks/>
          </p:cNvSpPr>
          <p:nvPr/>
        </p:nvSpPr>
        <p:spPr>
          <a:xfrm>
            <a:off x="831850" y="1653758"/>
            <a:ext cx="105156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15 minutes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4697E65-3DA9-6EF3-472C-734FB98C3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477" y="1770873"/>
            <a:ext cx="6729046" cy="35917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4842826"/>
      </p:ext>
    </p:extLst>
  </p:cSld>
  <p:clrMapOvr>
    <a:masterClrMapping/>
  </p:clrMapOvr>
</p:sld>
</file>

<file path=ppt/theme/theme1.xml><?xml version="1.0" encoding="utf-8"?>
<a:theme xmlns:a="http://schemas.openxmlformats.org/drawingml/2006/main" name="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Speaker's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ontent">
  <a:themeElements>
    <a:clrScheme name="PSConfE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PSConfEU202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Speaker's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99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C7FE30C-3F28-495E-8C75-45FD1EBD630F}">
  <we:reference id="WA200010001" version="1.0.0.0" store="Omex" storeType="OMEX"/>
  <we:alternateReferences>
    <we:reference id="WA200010001" version="1.0.0.0" store="WA200010001" storeType="OMEX"/>
  </we:alternateReferences>
  <we:properties>
    <we:property name="claude.fileId" value="&quot;f83bd3d9-0b65-486d-8fc4-ed1dbea93789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bdc9a1f-962e-4235-838d-61f9c438f4db">
      <Terms xmlns="http://schemas.microsoft.com/office/infopath/2007/PartnerControls"/>
    </lcf76f155ced4ddcb4097134ff3c332f>
    <TaxCatchAll xmlns="de47e97d-64fd-4aef-b10e-fd7d6cfcfcf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3502FDC476714EB47BD1BE2BFD7B3D" ma:contentTypeVersion="13" ma:contentTypeDescription="Create a new document." ma:contentTypeScope="" ma:versionID="0d4fb5ca5076182280cb93c7d6bdff79">
  <xsd:schema xmlns:xsd="http://www.w3.org/2001/XMLSchema" xmlns:xs="http://www.w3.org/2001/XMLSchema" xmlns:p="http://schemas.microsoft.com/office/2006/metadata/properties" xmlns:ns2="abdc9a1f-962e-4235-838d-61f9c438f4db" xmlns:ns3="de47e97d-64fd-4aef-b10e-fd7d6cfcfcf4" targetNamespace="http://schemas.microsoft.com/office/2006/metadata/properties" ma:root="true" ma:fieldsID="da14a0effa8c0f0120811d0692d695e7" ns2:_="" ns3:_="">
    <xsd:import namespace="abdc9a1f-962e-4235-838d-61f9c438f4db"/>
    <xsd:import namespace="de47e97d-64fd-4aef-b10e-fd7d6cfcfcf4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dc9a1f-962e-4235-838d-61f9c438f4d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bd613703-4b30-4a23-b3bf-9e58a81c4a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47e97d-64fd-4aef-b10e-fd7d6cfcfcf4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f96598e-1e7b-44ab-a102-458ae76ccdba}" ma:internalName="TaxCatchAll" ma:showField="CatchAllData" ma:web="de47e97d-64fd-4aef-b10e-fd7d6cfcfc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A9C06E3-346E-408E-B352-32E922A070CE}">
  <ds:schemaRefs>
    <ds:schemaRef ds:uri="2347cc20-e10c-452d-848a-c18e83138525"/>
    <ds:schemaRef ds:uri="58c243a5-121d-4837-b81c-114e1b569ece"/>
    <ds:schemaRef ds:uri="77f18391-c91f-4725-9130-63caf76c1806"/>
    <ds:schemaRef ds:uri="85c0ce47-fe9c-4809-bf88-519c39a738e6"/>
    <ds:schemaRef ds:uri="abdc9a1f-962e-4235-838d-61f9c438f4db"/>
    <ds:schemaRef ds:uri="de47e97d-64fd-4aef-b10e-fd7d6cfcfcf4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C38D965-436F-4DCC-97AA-50BEF4F7BE29}">
  <ds:schemaRefs>
    <ds:schemaRef ds:uri="abdc9a1f-962e-4235-838d-61f9c438f4db"/>
    <ds:schemaRef ds:uri="de47e97d-64fd-4aef-b10e-fd7d6cfcfcf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7D9B22B-F436-4FE5-B6C0-65AB2260F59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1732</Words>
  <Application>Microsoft Office PowerPoint</Application>
  <PresentationFormat>Widescreen</PresentationFormat>
  <Paragraphs>230</Paragraphs>
  <Slides>32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32</vt:i4>
      </vt:variant>
    </vt:vector>
  </HeadingPairs>
  <TitlesOfParts>
    <vt:vector size="44" baseType="lpstr">
      <vt:lpstr>Arial</vt:lpstr>
      <vt:lpstr>Calibri</vt:lpstr>
      <vt:lpstr>Consolas</vt:lpstr>
      <vt:lpstr>Segoe UI</vt:lpstr>
      <vt:lpstr>Segoe UI Light</vt:lpstr>
      <vt:lpstr>Stencil</vt:lpstr>
      <vt:lpstr>Wingdings</vt:lpstr>
      <vt:lpstr>Title</vt:lpstr>
      <vt:lpstr>Blank</vt:lpstr>
      <vt:lpstr>Speaker's slide</vt:lpstr>
      <vt:lpstr>Content</vt:lpstr>
      <vt:lpstr>Speaker's slide</vt:lpstr>
      <vt:lpstr>Next Up:</vt:lpstr>
      <vt:lpstr>3</vt:lpstr>
      <vt:lpstr>2</vt:lpstr>
      <vt:lpstr>1</vt:lpstr>
      <vt:lpstr>Implementing PSRemoting at Devolutions: Lessons Learned</vt:lpstr>
      <vt:lpstr>Many thanks to our sponsors:</vt:lpstr>
      <vt:lpstr>Marc-André Moreau</vt:lpstr>
      <vt:lpstr>About Devolutions</vt:lpstr>
      <vt:lpstr>What We'll Cover</vt:lpstr>
      <vt:lpstr>PowerPoint Presentation</vt:lpstr>
      <vt:lpstr>PowerPoint Presentation</vt:lpstr>
      <vt:lpstr>Embedded PowerShell in RDM</vt:lpstr>
      <vt:lpstr>Secure Credential Injection</vt:lpstr>
      <vt:lpstr>PowerPoint Presentation</vt:lpstr>
      <vt:lpstr>PowerPoint Presentation</vt:lpstr>
      <vt:lpstr>PSRemoting over SSH — Under the Hood</vt:lpstr>
      <vt:lpstr>PowerPoint Presentation</vt:lpstr>
      <vt:lpstr>PowerPoint Presentation</vt:lpstr>
      <vt:lpstr>A Future without OpenSSH in PowerShell</vt:lpstr>
      <vt:lpstr>PowerPoint Presentation</vt:lpstr>
      <vt:lpstr>PowerShell SDK Limitations</vt:lpstr>
      <vt:lpstr>Local PSRemoting via Subprocess</vt:lpstr>
      <vt:lpstr>Localhost WinRM: New Problems</vt:lpstr>
      <vt:lpstr>Custom C# PSRemoting Stack</vt:lpstr>
      <vt:lpstr>Directions for a Future PowerShell SDK</vt:lpstr>
      <vt:lpstr>PowerPoint Presentation</vt:lpstr>
      <vt:lpstr>PSRemoting in the Browser — Javascript Stack</vt:lpstr>
      <vt:lpstr>PSRemoting in the Browser — IronPosh (Rust)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Marc-André Moreau</cp:lastModifiedBy>
  <cp:revision>4</cp:revision>
  <dcterms:created xsi:type="dcterms:W3CDTF">2024-03-26T13:08:23Z</dcterms:created>
  <dcterms:modified xsi:type="dcterms:W3CDTF">2026-06-02T09:52:13Z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0x010100333502FDC476714EB47BD1BE2BFD7B3D</vt:lpwstr>
  </property>
  <property fmtid="{D5CDD505-2E9C-101B-9397-08002B2CF9AE}" pid="3" name="MediaServiceImageTags">
    <vt:lpwstr/>
  </property>
</Properties>
</file>