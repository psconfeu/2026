
<file path=[Content_Types].xml><?xml version="1.0" encoding="utf-8"?>
<Types xmlns="http://schemas.openxmlformats.org/package/2006/content-types">
  <Default Extension="5&amp;pid=ImgGn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97" r:id="rId5"/>
    <p:sldMasterId id="2147483695" r:id="rId6"/>
    <p:sldMasterId id="2147483684" r:id="rId7"/>
  </p:sldMasterIdLst>
  <p:notesMasterIdLst>
    <p:notesMasterId r:id="rId29"/>
  </p:notesMasterIdLst>
  <p:handoutMasterIdLst>
    <p:handoutMasterId r:id="rId30"/>
  </p:handoutMasterIdLst>
  <p:sldIdLst>
    <p:sldId id="272" r:id="rId8"/>
    <p:sldId id="259" r:id="rId9"/>
    <p:sldId id="269" r:id="rId10"/>
    <p:sldId id="270" r:id="rId11"/>
    <p:sldId id="273" r:id="rId12"/>
    <p:sldId id="261" r:id="rId13"/>
    <p:sldId id="267" r:id="rId14"/>
    <p:sldId id="260" r:id="rId15"/>
    <p:sldId id="276" r:id="rId16"/>
    <p:sldId id="283" r:id="rId17"/>
    <p:sldId id="281" r:id="rId18"/>
    <p:sldId id="287" r:id="rId19"/>
    <p:sldId id="264" r:id="rId20"/>
    <p:sldId id="288" r:id="rId21"/>
    <p:sldId id="284" r:id="rId22"/>
    <p:sldId id="289" r:id="rId23"/>
    <p:sldId id="282" r:id="rId24"/>
    <p:sldId id="285" r:id="rId25"/>
    <p:sldId id="280" r:id="rId26"/>
    <p:sldId id="265" r:id="rId27"/>
    <p:sldId id="27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the session" id="{9248E0E9-B469-42C5-B521-34DBB63F9E0C}">
          <p14:sldIdLst>
            <p14:sldId id="272"/>
            <p14:sldId id="259"/>
            <p14:sldId id="269"/>
            <p14:sldId id="270"/>
          </p14:sldIdLst>
        </p14:section>
        <p14:section name="The session" id="{9BCE8471-468A-4538-82B3-E4E62B0A593E}">
          <p14:sldIdLst>
            <p14:sldId id="273"/>
            <p14:sldId id="261"/>
            <p14:sldId id="267"/>
            <p14:sldId id="260"/>
            <p14:sldId id="276"/>
            <p14:sldId id="283"/>
            <p14:sldId id="281"/>
            <p14:sldId id="287"/>
            <p14:sldId id="264"/>
            <p14:sldId id="288"/>
            <p14:sldId id="284"/>
            <p14:sldId id="289"/>
            <p14:sldId id="282"/>
            <p14:sldId id="285"/>
            <p14:sldId id="280"/>
            <p14:sldId id="265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0D3"/>
    <a:srgbClr val="0BC16C"/>
    <a:srgbClr val="FE641E"/>
    <a:srgbClr val="DDE4ED"/>
    <a:srgbClr val="3B2A47"/>
    <a:srgbClr val="3B2B46"/>
    <a:srgbClr val="346297"/>
    <a:srgbClr val="000000"/>
    <a:srgbClr val="FFFFFF"/>
    <a:srgbClr val="346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862" autoAdjust="0"/>
  </p:normalViewPr>
  <p:slideViewPr>
    <p:cSldViewPr snapToGrid="0">
      <p:cViewPr varScale="1">
        <p:scale>
          <a:sx n="57" d="100"/>
          <a:sy n="57" d="100"/>
        </p:scale>
        <p:origin x="165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BDC4E67-8CB2-26CB-9842-22F9A691D9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31EB5F-53B0-CDA3-72A4-3FA9BE40D0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0670-43D7-400A-ABC5-B69E064DBB37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B1E06-E4F0-A1A2-1EFB-AD58FA1AF7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061963-6110-4C16-C593-C8C56E4881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74045-2E90-4839-9E75-1C1FCF04B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183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B03A4-75C9-4E3D-9183-2102CA9AEC33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39206-A81D-4F76-8486-302187992F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80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26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534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7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726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600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954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353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2B350-0E64-E43E-A171-46D514525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B44F3-6BAE-C4D9-C08E-B8922FCF2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DA7C0-8FEB-2D80-3A5B-D9CC68DD7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5F964-C844-6AE9-CA71-9CC80CE0D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6757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334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FBFEE-50AD-425A-DB67-246384FA5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90132-F165-ADF2-D0EC-C0635DDDF7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0312C3-C2E5-6882-F62E-C7BBFF813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workflows will you reimagine next?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CDF64-C278-E179-DF3E-F8B86E5A7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01776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0202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6FA51-4B3E-F8DC-7146-CC03017C0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138512-31A5-03C6-9AFE-9F24AFEB1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30159-D26A-1EFD-B0AF-7C7D4B113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workflows will you reimagine next?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AAD64-99B2-13E1-B050-C2BB4B047B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5355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73735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6F456-9037-D5CD-D1EC-24B026E1F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66CF8A-2A8E-2AAC-49BD-E77F09212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D0F5B-36E8-A5A5-226F-D55A869A2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workflows will you reimagine next?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6F743-1FEC-4FE3-C140-F474EEFD75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0922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97063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02280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workflows will you reimagine next?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0004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308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342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4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ue">
    <p:bg>
      <p:bgPr>
        <a:solidFill>
          <a:srgbClr val="3462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615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666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659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Speaker’s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374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F0C1-723F-8331-7203-2AD1CA308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0EBD9-8D5A-98D4-BC92-CE5E1C756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2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202-8931-7832-6C93-86B82B68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BC0C-D418-7F75-653D-7BD01A94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02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3987-4D9C-734A-F0DD-FA7C5E5B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C8F2A-06F7-926F-11A3-0E18B5E01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760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D26B-2105-B752-1559-A5E7E358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2030-5E24-3C76-AF6E-BEABDB29D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EF88D-DEBE-FA6D-7C2B-49DE203B9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025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F04B-2070-B32A-26F9-689ACEB1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72153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51C8F-389D-6D1D-529E-8F7B5D256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AB8FD-3AC0-420A-CD1A-4BB2C4DEB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0881B-0B39-A9CB-08B8-7FA6C0D98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7CCB1-27F7-D503-AC18-183950FAE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728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4D49-1A5A-DFCF-8CA7-93B2889E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19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470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FA22-F0C4-1510-0E4C-953C802C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368D-1D41-F3F9-3D07-85EFF2CF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3765E-1500-5380-7D29-9BED9AFAF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4134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9606-9316-A7A0-65BC-635A494F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37042-5D0D-C650-5659-376D12BF8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F090A-47F3-1576-D5A3-105EE3376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489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B042-3840-06BB-E1DF-E9094D81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C1C5E-7112-083E-8A66-4B30A4DD3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364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5.sv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 descr="Une image contenant texte&#10;&#10;Description générée automatiquement">
            <a:extLst>
              <a:ext uri="{FF2B5EF4-FFF2-40B4-BE49-F238E27FC236}">
                <a16:creationId xmlns:a16="http://schemas.microsoft.com/office/drawing/2014/main" id="{46B6AA1A-3151-3AC2-83FB-1C6A4D626C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38E8CAF-D224-9556-511F-8D65E9383F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591" y="137310"/>
            <a:ext cx="4166241" cy="1426795"/>
          </a:xfrm>
          <a:prstGeom prst="rect">
            <a:avLst/>
          </a:prstGeom>
        </p:spPr>
      </p:pic>
      <p:pic>
        <p:nvPicPr>
          <p:cNvPr id="8" name="Image 7" descr="Une image contenant Police, Graphique, typographie, graphisme&#10;&#10;Le contenu généré par l’IA peut être incorrect.">
            <a:extLst>
              <a:ext uri="{FF2B5EF4-FFF2-40B4-BE49-F238E27FC236}">
                <a16:creationId xmlns:a16="http://schemas.microsoft.com/office/drawing/2014/main" id="{B287398A-20D9-4E87-9997-CB57AB2CCEE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00" y="6074646"/>
            <a:ext cx="2471121" cy="37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29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27B60B6-58D4-7B9F-C29A-CE66AF93F596}"/>
              </a:ext>
            </a:extLst>
          </p:cNvPr>
          <p:cNvSpPr txBox="1">
            <a:spLocks/>
          </p:cNvSpPr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5000">
                <a:latin typeface="Stencil" panose="040409050D0802020404" pitchFamily="82" charset="0"/>
              </a:rPr>
              <a:t> 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87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6A8F4F5-7628-E9E8-23A7-09169C6794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FC40251A-A850-BFFB-8B10-8DF9490B82FC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3B2B46"/>
                </a:solidFill>
              </a:rPr>
              <a:t>@tgauth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BA6D3-5703-2B33-8381-A6B521E4EF59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5940FBC8-A0C6-2B5F-1902-D32A817C99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3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5400" b="1" kern="1200" dirty="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3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B01AB94-EEA2-3211-2551-34A16625A1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57010D-0C09-8FBA-F719-A4ED7C3F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54D6-CB61-3142-2199-DDEA2FD48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122872C-58E4-4D8E-43AD-82C6D51A6C2A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3B2B46"/>
                </a:solidFill>
              </a:rPr>
              <a:t>@tgauth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59BD5C5E-FB1B-A32E-1927-AB6A3C9A66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12" name="Image 11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9DA822DC-EA6F-C834-636F-0CFA0983C12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716" y="1147469"/>
            <a:ext cx="1169451" cy="376843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E16A90F8-D789-E1FC-28F1-B2BFBC4CC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36662" y="6335963"/>
            <a:ext cx="365125" cy="36512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26EC41D-2CB6-0B12-C26A-46F016046178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4" name="Graphique 23">
            <a:extLst>
              <a:ext uri="{FF2B5EF4-FFF2-40B4-BE49-F238E27FC236}">
                <a16:creationId xmlns:a16="http://schemas.microsoft.com/office/drawing/2014/main" id="{14057C36-7CA7-EB30-FD33-9F60CDAC50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9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3200" kern="1200">
          <a:solidFill>
            <a:srgbClr val="34629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5&amp;pid=ImgG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512BD2B3-5213-AE89-B245-3E2067844782}"/>
              </a:ext>
            </a:extLst>
          </p:cNvPr>
          <p:cNvSpPr txBox="1">
            <a:spLocks/>
          </p:cNvSpPr>
          <p:nvPr/>
        </p:nvSpPr>
        <p:spPr>
          <a:xfrm>
            <a:off x="1524000" y="4271395"/>
            <a:ext cx="9144000" cy="63175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3B2B4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>
                <a:latin typeface="Segoe UI" panose="020B0502040204020203" pitchFamily="34" charset="0"/>
                <a:cs typeface="Segoe UI" panose="020B0502040204020203" pitchFamily="34" charset="0"/>
              </a:rPr>
              <a:t>Tess Gauthier</a:t>
            </a:r>
            <a:endParaRPr lang="en-GB" b="1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" name="Connecteur droit 5">
            <a:extLst>
              <a:ext uri="{FF2B5EF4-FFF2-40B4-BE49-F238E27FC236}">
                <a16:creationId xmlns:a16="http://schemas.microsoft.com/office/drawing/2014/main" id="{E9631884-5100-1BA8-2365-47609B2977D7}"/>
              </a:ext>
            </a:extLst>
          </p:cNvPr>
          <p:cNvCxnSpPr/>
          <p:nvPr/>
        </p:nvCxnSpPr>
        <p:spPr>
          <a:xfrm>
            <a:off x="3867150" y="4089400"/>
            <a:ext cx="4508500" cy="0"/>
          </a:xfrm>
          <a:prstGeom prst="line">
            <a:avLst/>
          </a:prstGeom>
          <a:ln>
            <a:solidFill>
              <a:srgbClr val="3B2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el 4">
            <a:extLst>
              <a:ext uri="{FF2B5EF4-FFF2-40B4-BE49-F238E27FC236}">
                <a16:creationId xmlns:a16="http://schemas.microsoft.com/office/drawing/2014/main" id="{EC34FE26-AFCF-2A09-DB2E-84FFA4D454A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63600" y="2672840"/>
            <a:ext cx="10515600" cy="1325563"/>
          </a:xfrm>
          <a:prstGeom prst="rect">
            <a:avLst/>
          </a:prstGeom>
        </p:spPr>
        <p:txBody>
          <a:bodyPr anchor="b" anchorCtr="0"/>
          <a:lstStyle/>
          <a:p>
            <a:pPr algn="ctr"/>
            <a:r>
              <a:rPr lang="en-DE" sz="6000" b="1" dirty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</a:t>
            </a:r>
            <a:r>
              <a:rPr lang="en-US" sz="6000" b="1" dirty="0" err="1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ext</a:t>
            </a:r>
            <a:r>
              <a:rPr lang="en-US" sz="6000" b="1" dirty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Up:</a:t>
            </a:r>
            <a:endParaRPr lang="en-DE" sz="6000" b="1" dirty="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88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82643D59-896E-68AE-5BCA-3F8558F198E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3</a:t>
            </a:r>
            <a:endParaRPr lang="en-GB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solidFill>
                  <a:schemeClr val="bg1"/>
                </a:solidFill>
                <a:latin typeface="Stencil" panose="040409050D0802020404" pitchFamily="82" charset="0"/>
              </a:rPr>
              <a:t>3</a:t>
            </a:r>
            <a:endParaRPr lang="en-DE" sz="2500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004164"/>
      </p:ext>
    </p:extLst>
  </p:cSld>
  <p:clrMapOvr>
    <a:masterClrMapping/>
  </p:clrMapOvr>
  <p:transition spd="slow" advTm="100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solidFill>
                  <a:schemeClr val="bg1"/>
                </a:solidFill>
                <a:latin typeface="Stencil" panose="040409050D0802020404" pitchFamily="82" charset="0"/>
              </a:rPr>
              <a:t>2</a:t>
            </a:r>
            <a:endParaRPr lang="en-DE" sz="2500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012733"/>
      </p:ext>
    </p:extLst>
  </p:cSld>
  <p:clrMapOvr>
    <a:masterClrMapping/>
  </p:clrMapOvr>
  <p:transition spd="slow" advTm="100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latin typeface="Stencil" panose="040409050D0802020404" pitchFamily="82" charset="0"/>
              </a:rPr>
              <a:t>1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31530"/>
      </p:ext>
    </p:extLst>
  </p:cSld>
  <p:clrMapOvr>
    <a:masterClrMapping/>
  </p:clrMapOvr>
  <p:transition spd="slow" advTm="100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FB22B504-146E-1966-17CE-BB797BC6083D}"/>
              </a:ext>
            </a:extLst>
          </p:cNvPr>
          <p:cNvSpPr txBox="1">
            <a:spLocks/>
          </p:cNvSpPr>
          <p:nvPr/>
        </p:nvSpPr>
        <p:spPr>
          <a:xfrm>
            <a:off x="1524000" y="4271395"/>
            <a:ext cx="9144000" cy="63175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3B2B4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i="1" dirty="0"/>
              <a:t>Tess Gauthier</a:t>
            </a:r>
            <a:endParaRPr lang="en-GB" b="1" i="1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169C0FB-08C4-E3EC-573C-91852880EBAA}"/>
              </a:ext>
            </a:extLst>
          </p:cNvPr>
          <p:cNvCxnSpPr/>
          <p:nvPr/>
        </p:nvCxnSpPr>
        <p:spPr>
          <a:xfrm>
            <a:off x="3867150" y="4089400"/>
            <a:ext cx="4508500" cy="0"/>
          </a:xfrm>
          <a:prstGeom prst="line">
            <a:avLst/>
          </a:prstGeom>
          <a:ln>
            <a:solidFill>
              <a:srgbClr val="3B2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el 3">
            <a:extLst>
              <a:ext uri="{FF2B5EF4-FFF2-40B4-BE49-F238E27FC236}">
                <a16:creationId xmlns:a16="http://schemas.microsoft.com/office/drawing/2014/main" id="{0E2348EB-2258-5792-670F-322202E630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2666707"/>
            <a:ext cx="10515600" cy="1325563"/>
          </a:xfrm>
          <a:prstGeom prst="rect">
            <a:avLst/>
          </a:prstGeom>
        </p:spPr>
        <p:txBody>
          <a:bodyPr anchor="b" anchorCtr="0"/>
          <a:lstStyle/>
          <a:p>
            <a:pPr algn="ctr"/>
            <a:r>
              <a:rPr lang="en-US" sz="5400" b="1" dirty="0">
                <a:solidFill>
                  <a:srgbClr val="346296"/>
                </a:solidFill>
                <a:latin typeface="+mn-lt"/>
              </a:rPr>
              <a:t>Automate your Upstream Sync with GitHub Copilot and PowerShell MCP</a:t>
            </a:r>
            <a:endParaRPr lang="en-DE" sz="5400" b="1" dirty="0">
              <a:solidFill>
                <a:srgbClr val="346296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3816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531CB4D-40EE-4CEA-4C1F-A86C158A8A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09061" y="630961"/>
            <a:ext cx="9733280" cy="1325563"/>
          </a:xfrm>
        </p:spPr>
        <p:txBody>
          <a:bodyPr/>
          <a:lstStyle/>
          <a:p>
            <a:pPr rtl="0" eaLnBrk="1" latinLnBrk="0" hangingPunct="1"/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Many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thanks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to </a:t>
            </a:r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our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sponsors:</a:t>
            </a:r>
            <a:endParaRPr lang="en-DE">
              <a:solidFill>
                <a:srgbClr val="3B2A47"/>
              </a:solidFill>
            </a:endParaRPr>
          </a:p>
        </p:txBody>
      </p:sp>
      <p:pic>
        <p:nvPicPr>
          <p:cNvPr id="3" name="Graphique 6">
            <a:extLst>
              <a:ext uri="{FF2B5EF4-FFF2-40B4-BE49-F238E27FC236}">
                <a16:creationId xmlns:a16="http://schemas.microsoft.com/office/drawing/2014/main" id="{1885EF7D-F32F-B8CF-DF40-9E95DFC01F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62511" y="2103684"/>
            <a:ext cx="8666977" cy="265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35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SCONF.EU.  AI-generated content may be incorrect.">
            <a:extLst>
              <a:ext uri="{FF2B5EF4-FFF2-40B4-BE49-F238E27FC236}">
                <a16:creationId xmlns:a16="http://schemas.microsoft.com/office/drawing/2014/main" id="{5DEA72FA-1F1B-9BCD-7BD9-2B6B68FBF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59" y="135884"/>
            <a:ext cx="2880366" cy="2880366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3312970-1382-905E-DF3A-5D367E6E7736}"/>
              </a:ext>
            </a:extLst>
          </p:cNvPr>
          <p:cNvSpPr txBox="1">
            <a:spLocks/>
          </p:cNvSpPr>
          <p:nvPr/>
        </p:nvSpPr>
        <p:spPr>
          <a:xfrm>
            <a:off x="3467311" y="20052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Software Engineer at Microsoft on the PowerShell/DSC/OpenSSH Team</a:t>
            </a:r>
          </a:p>
          <a:p>
            <a:pPr marL="0" indent="0">
              <a:buNone/>
            </a:pPr>
            <a:endParaRPr lang="en-US" sz="1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Second PSConfEU!</a:t>
            </a:r>
          </a:p>
          <a:p>
            <a:pPr marL="0" indent="0">
              <a:buNone/>
            </a:pPr>
            <a:endParaRPr lang="en-US" sz="1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Fun fact: I spent a semester studying in Germany at TU Dresden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63F84C9-7486-D81C-EDE7-12CE856D5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2" y="324852"/>
            <a:ext cx="7886485" cy="1325563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rgbClr val="3B2A47"/>
                </a:solidFill>
                <a:latin typeface="+mn-lt"/>
                <a:ea typeface="+mn-ea"/>
                <a:cs typeface="+mn-cs"/>
              </a:rPr>
              <a:t>Tess Gauthier</a:t>
            </a:r>
            <a:endParaRPr lang="en-DE" sz="6600" dirty="0">
              <a:solidFill>
                <a:srgbClr val="3B2A47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7784A9-B638-785E-6090-A20F19865EF7}"/>
              </a:ext>
            </a:extLst>
          </p:cNvPr>
          <p:cNvSpPr txBox="1"/>
          <p:nvPr/>
        </p:nvSpPr>
        <p:spPr>
          <a:xfrm>
            <a:off x="3570890" y="1281083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3B2A47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i="1" dirty="0">
                <a:solidFill>
                  <a:srgbClr val="3B2A47"/>
                </a:solidFill>
              </a:rPr>
              <a:t>Sh</a:t>
            </a:r>
            <a:r>
              <a:rPr lang="en-US" sz="1800" b="0" i="1" dirty="0">
                <a:solidFill>
                  <a:srgbClr val="3B2A47"/>
                </a:solidFill>
                <a:latin typeface="+mn-lt"/>
                <a:ea typeface="+mn-ea"/>
                <a:cs typeface="+mn-cs"/>
              </a:rPr>
              <a:t>e/Her</a:t>
            </a:r>
            <a:r>
              <a:rPr lang="en-US" sz="1800" b="0" dirty="0">
                <a:solidFill>
                  <a:srgbClr val="3B2A47"/>
                </a:solidFill>
                <a:latin typeface="+mn-lt"/>
                <a:ea typeface="+mn-ea"/>
                <a:cs typeface="+mn-cs"/>
              </a:rPr>
              <a:t>)</a:t>
            </a:r>
            <a:endParaRPr lang="en-DE" sz="1800" b="0" dirty="0">
              <a:solidFill>
                <a:srgbClr val="3B2A47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1095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91E0F2-FE77-51ED-3F72-223B5892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D5023A-BA6F-B725-CF78-FD889E577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00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Opportunity</a:t>
            </a:r>
            <a:r>
              <a:rPr lang="en-US" b="1" dirty="0"/>
              <a:t> </a:t>
            </a:r>
          </a:p>
          <a:p>
            <a:r>
              <a:rPr lang="en-US" dirty="0"/>
              <a:t> Demo: </a:t>
            </a:r>
            <a:endParaRPr lang="en-US" sz="3600" b="1" dirty="0"/>
          </a:p>
          <a:p>
            <a:pPr lvl="1"/>
            <a:r>
              <a:rPr lang="en-US" sz="3600" dirty="0"/>
              <a:t> Merge phase</a:t>
            </a:r>
            <a:endParaRPr lang="en-US" sz="3600" b="1" dirty="0"/>
          </a:p>
          <a:p>
            <a:pPr lvl="1"/>
            <a:r>
              <a:rPr lang="en-US" sz="3600" b="1" dirty="0"/>
              <a:t> </a:t>
            </a:r>
            <a:r>
              <a:rPr lang="en-US" sz="3600" dirty="0"/>
              <a:t>Build phase</a:t>
            </a:r>
          </a:p>
          <a:p>
            <a:pPr lvl="1"/>
            <a:r>
              <a:rPr lang="en-US" sz="3600" dirty="0"/>
              <a:t> Validation phase</a:t>
            </a:r>
          </a:p>
          <a:p>
            <a:pPr lvl="1"/>
            <a:r>
              <a:rPr lang="en-US" sz="3600" dirty="0"/>
              <a:t> End-to-end</a:t>
            </a:r>
            <a:r>
              <a:rPr lang="en-US" sz="3600" b="1" dirty="0"/>
              <a:t> </a:t>
            </a:r>
            <a:r>
              <a:rPr lang="en-US" sz="3600" dirty="0"/>
              <a:t>workflow</a:t>
            </a:r>
          </a:p>
          <a:p>
            <a:r>
              <a:rPr lang="en-US" dirty="0"/>
              <a:t> Takeaways</a:t>
            </a:r>
          </a:p>
        </p:txBody>
      </p:sp>
    </p:spTree>
    <p:extLst>
      <p:ext uri="{BB962C8B-B14F-4D97-AF65-F5344CB8AC3E}">
        <p14:creationId xmlns:p14="http://schemas.microsoft.com/office/powerpoint/2010/main" val="1101361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appears to be a screen capture of a software repository page, specifically the OpenSSH-Portable project on GitHub, showing the latest version, forked repository, branch information, and options to view code, contribute, and sync the fork.  AI-generated content may be incorrect.">
            <a:extLst>
              <a:ext uri="{FF2B5EF4-FFF2-40B4-BE49-F238E27FC236}">
                <a16:creationId xmlns:a16="http://schemas.microsoft.com/office/drawing/2014/main" id="{E05BBF1C-E704-606D-39CD-E6754AC31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10534308" cy="281327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191E0F2-FE77-51ED-3F72-223B5892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Opportunity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D4B3DA-FB02-D9DF-BE6D-7864F5063B65}"/>
              </a:ext>
            </a:extLst>
          </p:cNvPr>
          <p:cNvSpPr/>
          <p:nvPr/>
        </p:nvSpPr>
        <p:spPr>
          <a:xfrm>
            <a:off x="1160980" y="3418726"/>
            <a:ext cx="7294651" cy="39298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361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CA1B4-EC92-C929-7A79-FAC26EFAE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make the colors less flat and include some shading or a light gradient">
            <a:extLst>
              <a:ext uri="{FF2B5EF4-FFF2-40B4-BE49-F238E27FC236}">
                <a16:creationId xmlns:a16="http://schemas.microsoft.com/office/drawing/2014/main" id="{A46207AA-75CB-C982-9B38-7143570DCD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33" t="8600" r="9281" b="12683"/>
          <a:stretch>
            <a:fillRect/>
          </a:stretch>
        </p:blipFill>
        <p:spPr>
          <a:xfrm>
            <a:off x="3926048" y="378042"/>
            <a:ext cx="5620546" cy="554523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F878AA9-ADE1-8135-7A06-7869ACC85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Workflow </a:t>
            </a:r>
            <a:br>
              <a:rPr lang="en-US" dirty="0"/>
            </a:br>
            <a:r>
              <a:rPr lang="en-US" dirty="0"/>
              <a:t>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9C2A2E-5053-DDC2-3725-3CCC1DDA8DD0}"/>
              </a:ext>
            </a:extLst>
          </p:cNvPr>
          <p:cNvSpPr txBox="1"/>
          <p:nvPr/>
        </p:nvSpPr>
        <p:spPr>
          <a:xfrm>
            <a:off x="2901162" y="3546901"/>
            <a:ext cx="2468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C80D3"/>
                </a:solidFill>
              </a:rPr>
              <a:t>Test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D6298F-B15A-2EDB-37AD-AA6A3687694F}"/>
              </a:ext>
            </a:extLst>
          </p:cNvPr>
          <p:cNvSpPr txBox="1"/>
          <p:nvPr/>
        </p:nvSpPr>
        <p:spPr>
          <a:xfrm>
            <a:off x="7915914" y="365125"/>
            <a:ext cx="2468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BC16C"/>
                </a:solidFill>
              </a:rPr>
              <a:t>Merge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389827-19A3-495F-3547-E3C8253577D6}"/>
              </a:ext>
            </a:extLst>
          </p:cNvPr>
          <p:cNvSpPr txBox="1"/>
          <p:nvPr/>
        </p:nvSpPr>
        <p:spPr>
          <a:xfrm>
            <a:off x="8204682" y="4933871"/>
            <a:ext cx="2468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E641E"/>
                </a:solidFill>
              </a:rPr>
              <a:t>Build</a:t>
            </a:r>
          </a:p>
        </p:txBody>
      </p:sp>
    </p:spTree>
    <p:extLst>
      <p:ext uri="{BB962C8B-B14F-4D97-AF65-F5344CB8AC3E}">
        <p14:creationId xmlns:p14="http://schemas.microsoft.com/office/powerpoint/2010/main" val="3159522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C97BE-E833-AECB-66D8-884614FC7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684F60-384F-DB1A-350D-FD224225B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29389"/>
            <a:ext cx="10515600" cy="1004637"/>
          </a:xfrm>
        </p:spPr>
        <p:txBody>
          <a:bodyPr/>
          <a:lstStyle/>
          <a:p>
            <a:r>
              <a:rPr lang="en-GB"/>
              <a:t>Demos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250F7-3431-BB6C-304F-0407907C6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53758"/>
            <a:ext cx="10515600" cy="1500187"/>
          </a:xfrm>
        </p:spPr>
        <p:txBody>
          <a:bodyPr>
            <a:noAutofit/>
          </a:bodyPr>
          <a:lstStyle/>
          <a:p>
            <a:r>
              <a:rPr lang="en-GB" dirty="0"/>
              <a:t>Merge Phase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81F4C405-87BA-F51A-3C43-7522CEAA0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191" y="615392"/>
            <a:ext cx="6127897" cy="5060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8501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D9BAE-25D0-51F5-9D82-1FF48F912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6792BA-1573-CEF1-D355-037353DD2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Phase Learnings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66C92B-8B4C-49A6-C108-421D892E4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681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 Iterate on sub-tasks</a:t>
            </a:r>
          </a:p>
          <a:p>
            <a:pPr lvl="1">
              <a:lnSpc>
                <a:spcPct val="100000"/>
              </a:lnSpc>
            </a:pPr>
            <a:r>
              <a:rPr lang="en-US" sz="3600" dirty="0"/>
              <a:t> Get a batch of commits                          [tool]</a:t>
            </a:r>
          </a:p>
          <a:p>
            <a:pPr lvl="1">
              <a:lnSpc>
                <a:spcPct val="100000"/>
              </a:lnSpc>
            </a:pPr>
            <a:r>
              <a:rPr lang="en-US" sz="3600" dirty="0"/>
              <a:t> Triage conflicts                             [instruction]      </a:t>
            </a:r>
          </a:p>
          <a:p>
            <a:pPr>
              <a:lnSpc>
                <a:spcPct val="100000"/>
              </a:lnSpc>
            </a:pP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dirty="0"/>
              <a:t> Tools: useful for deterministic actions</a:t>
            </a:r>
          </a:p>
          <a:p>
            <a:pPr>
              <a:lnSpc>
                <a:spcPct val="100000"/>
              </a:lnSpc>
            </a:pP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dirty="0"/>
              <a:t> Instructions: useful for general patterns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80471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67248-C99C-E892-89E1-4CBB81F0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29389"/>
            <a:ext cx="10515600" cy="1004637"/>
          </a:xfrm>
        </p:spPr>
        <p:txBody>
          <a:bodyPr/>
          <a:lstStyle/>
          <a:p>
            <a:r>
              <a:rPr lang="en-GB"/>
              <a:t>Demos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CAFC7-78CB-98F9-FEF3-D3E8C9FF6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53758"/>
            <a:ext cx="10515600" cy="1500187"/>
          </a:xfrm>
        </p:spPr>
        <p:txBody>
          <a:bodyPr>
            <a:normAutofit/>
          </a:bodyPr>
          <a:lstStyle/>
          <a:p>
            <a:r>
              <a:rPr lang="en-GB" dirty="0"/>
              <a:t>Build Phase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776AC288-703A-8014-23CA-E040CDD7E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191" y="615392"/>
            <a:ext cx="6127897" cy="5060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7259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2FA14-431B-D0BA-3F7E-9452C5ED4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976A20-DE40-5E29-31BE-74B244EC0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Phase Learnings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63387A-415A-047F-9F15-D1E9A2919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681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 Define when it’s necessary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dirty="0"/>
              <a:t> Leverage existing work with </a:t>
            </a:r>
            <a:r>
              <a:rPr lang="en-US" dirty="0" err="1"/>
              <a:t>MCPServerPS</a:t>
            </a:r>
            <a:r>
              <a:rPr lang="en-US" dirty="0"/>
              <a:t> module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dirty="0"/>
              <a:t> Define “success”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08771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9C7FF-CDB7-855F-EF73-5C09E308F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611023-EB0B-5649-28C4-814A3DBEA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29389"/>
            <a:ext cx="10515600" cy="1004637"/>
          </a:xfrm>
        </p:spPr>
        <p:txBody>
          <a:bodyPr/>
          <a:lstStyle/>
          <a:p>
            <a:r>
              <a:rPr lang="en-GB"/>
              <a:t>Demos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FE9007-68E3-2644-8364-A6EF1A0F3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53758"/>
            <a:ext cx="10515600" cy="1500187"/>
          </a:xfrm>
        </p:spPr>
        <p:txBody>
          <a:bodyPr>
            <a:normAutofit/>
          </a:bodyPr>
          <a:lstStyle/>
          <a:p>
            <a:r>
              <a:rPr lang="en-GB" dirty="0"/>
              <a:t>Validation Phase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758DB539-7D2A-8C8B-FEB9-4EDDC7F5D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191" y="615392"/>
            <a:ext cx="6127897" cy="5060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4251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23F88-E30B-4A99-AFE6-17328AA9A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249390-0CB9-672F-6E35-03EF97B6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Phase Learnings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303C86-6A96-F787-417D-D364CF984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681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 </a:t>
            </a:r>
          </a:p>
          <a:p>
            <a:pPr>
              <a:lnSpc>
                <a:spcPct val="100000"/>
              </a:lnSpc>
            </a:pPr>
            <a:r>
              <a:rPr lang="en-US" dirty="0"/>
              <a:t> Define levels</a:t>
            </a:r>
          </a:p>
          <a:p>
            <a:pPr lvl="1">
              <a:lnSpc>
                <a:spcPct val="100000"/>
              </a:lnSpc>
            </a:pPr>
            <a:r>
              <a:rPr lang="en-US" sz="3600" dirty="0"/>
              <a:t> Simple change </a:t>
            </a:r>
            <a:r>
              <a:rPr lang="en-US" sz="3600" dirty="0">
                <a:sym typeface="Wingdings" panose="05000000000000000000" pitchFamily="2" charset="2"/>
              </a:rPr>
              <a:t></a:t>
            </a:r>
            <a:r>
              <a:rPr lang="en-US" sz="3600" dirty="0"/>
              <a:t> smoke test</a:t>
            </a:r>
          </a:p>
          <a:p>
            <a:pPr lvl="1">
              <a:lnSpc>
                <a:spcPct val="100000"/>
              </a:lnSpc>
            </a:pPr>
            <a:r>
              <a:rPr lang="en-US" sz="3600" dirty="0"/>
              <a:t> Complex change </a:t>
            </a:r>
            <a:r>
              <a:rPr lang="en-US" sz="3600" dirty="0">
                <a:sym typeface="Wingdings" panose="05000000000000000000" pitchFamily="2" charset="2"/>
              </a:rPr>
              <a:t></a:t>
            </a:r>
            <a:r>
              <a:rPr lang="en-US" sz="3600" dirty="0"/>
              <a:t> full test suite</a:t>
            </a:r>
          </a:p>
          <a:p>
            <a:pPr>
              <a:lnSpc>
                <a:spcPct val="100000"/>
              </a:lnSpc>
            </a:pPr>
            <a:r>
              <a:rPr lang="en-US" dirty="0"/>
              <a:t> Require summary in specified format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30298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BA848-50CD-8FA2-3EFD-FD33D4BA8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41396E-67E9-A83B-1F89-E0E6B949F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29389"/>
            <a:ext cx="10515600" cy="1004637"/>
          </a:xfrm>
        </p:spPr>
        <p:txBody>
          <a:bodyPr/>
          <a:lstStyle/>
          <a:p>
            <a:r>
              <a:rPr lang="en-GB"/>
              <a:t>Demos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74FD68-60FB-12C0-FA95-67F68B287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53758"/>
            <a:ext cx="10515600" cy="1500187"/>
          </a:xfrm>
        </p:spPr>
        <p:txBody>
          <a:bodyPr>
            <a:normAutofit/>
          </a:bodyPr>
          <a:lstStyle/>
          <a:p>
            <a:r>
              <a:rPr lang="en-GB" dirty="0"/>
              <a:t>Full Workflow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052CC858-6737-E4BD-D626-DEDF247C9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191" y="615392"/>
            <a:ext cx="6127897" cy="5060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2946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72667A-9D97-ADE9-031B-724F070F40B4}"/>
              </a:ext>
            </a:extLst>
          </p:cNvPr>
          <p:cNvSpPr txBox="1"/>
          <p:nvPr/>
        </p:nvSpPr>
        <p:spPr>
          <a:xfrm>
            <a:off x="2796988" y="2326341"/>
            <a:ext cx="84985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*Please see demo recording, </a:t>
            </a:r>
          </a:p>
          <a:p>
            <a:r>
              <a:rPr lang="en-US" sz="3600" dirty="0"/>
              <a:t>removed due to file size constraints</a:t>
            </a:r>
          </a:p>
        </p:txBody>
      </p:sp>
    </p:spTree>
    <p:extLst>
      <p:ext uri="{BB962C8B-B14F-4D97-AF65-F5344CB8AC3E}">
        <p14:creationId xmlns:p14="http://schemas.microsoft.com/office/powerpoint/2010/main" val="2626052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91E0F2-FE77-51ED-3F72-223B5892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Takeaways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D5023A-BA6F-B725-CF78-FD889E577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68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1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Iterate on the best instructions/tools/skills for tasks</a:t>
            </a:r>
          </a:p>
          <a:p>
            <a:pPr marL="0" indent="0">
              <a:buNone/>
            </a:pPr>
            <a:endParaRPr lang="en-US" sz="1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Define strict success metrics using checkpoints/gates</a:t>
            </a:r>
          </a:p>
          <a:p>
            <a:pPr marL="0" indent="0">
              <a:buNone/>
            </a:pPr>
            <a:endParaRPr lang="en-US" sz="1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Leverage existing scripts &amp; modules via the </a:t>
            </a:r>
            <a:r>
              <a:rPr lang="en-US" dirty="0" err="1"/>
              <a:t>MCPServerPS</a:t>
            </a:r>
            <a:r>
              <a:rPr lang="en-US" dirty="0"/>
              <a:t> module</a:t>
            </a:r>
          </a:p>
          <a:p>
            <a:pPr marL="0" indent="0">
              <a:buNone/>
            </a:pPr>
            <a:endParaRPr lang="en-US" sz="1000" dirty="0"/>
          </a:p>
          <a:p>
            <a:pPr lvl="1"/>
            <a:r>
              <a:rPr lang="en-US" sz="3600" dirty="0"/>
              <a:t>https://github.com/daxian-dbw/MCPServerPS/pkgs/nuget/MCPServerPS</a:t>
            </a:r>
          </a:p>
        </p:txBody>
      </p:sp>
    </p:spTree>
    <p:extLst>
      <p:ext uri="{BB962C8B-B14F-4D97-AF65-F5344CB8AC3E}">
        <p14:creationId xmlns:p14="http://schemas.microsoft.com/office/powerpoint/2010/main" val="1101361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063F7B61-5334-421F-9456-A905D333F4B3}"/>
              </a:ext>
            </a:extLst>
          </p:cNvPr>
          <p:cNvSpPr txBox="1">
            <a:spLocks/>
          </p:cNvSpPr>
          <p:nvPr/>
        </p:nvSpPr>
        <p:spPr>
          <a:xfrm>
            <a:off x="831850" y="529389"/>
            <a:ext cx="10515600" cy="1004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Q&amp;A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7911686-C4FE-022C-2490-99F4F5BFDF39}"/>
              </a:ext>
            </a:extLst>
          </p:cNvPr>
          <p:cNvSpPr txBox="1">
            <a:spLocks/>
          </p:cNvSpPr>
          <p:nvPr/>
        </p:nvSpPr>
        <p:spPr>
          <a:xfrm>
            <a:off x="831850" y="1653758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15 minutes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4697E65-3DA9-6EF3-472C-734FB98C3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77" y="1770873"/>
            <a:ext cx="6729046" cy="35917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4842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C2B4B-CF61-3DC5-6221-F5F99F86F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0AFF23A2-578F-B7AD-CC96-F1E75AA0FD82}"/>
              </a:ext>
            </a:extLst>
          </p:cNvPr>
          <p:cNvSpPr txBox="1">
            <a:spLocks/>
          </p:cNvSpPr>
          <p:nvPr/>
        </p:nvSpPr>
        <p:spPr>
          <a:xfrm>
            <a:off x="831850" y="529389"/>
            <a:ext cx="10515600" cy="1004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GIVE ME FEEDBACK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8D9FEC-D0B6-03AA-2C12-1CA5AE4EB596}"/>
              </a:ext>
            </a:extLst>
          </p:cNvPr>
          <p:cNvSpPr/>
          <p:nvPr/>
        </p:nvSpPr>
        <p:spPr>
          <a:xfrm>
            <a:off x="3831771" y="2046514"/>
            <a:ext cx="3868058" cy="3868058"/>
          </a:xfrm>
          <a:prstGeom prst="rect">
            <a:avLst/>
          </a:prstGeom>
          <a:noFill/>
          <a:ln w="38100">
            <a:solidFill>
              <a:srgbClr val="3B2A47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noFill/>
                <a:prstDash val="dash"/>
              </a:ln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CD424B4-E900-F6B6-EAA3-A874A8F70DAC}"/>
              </a:ext>
            </a:extLst>
          </p:cNvPr>
          <p:cNvSpPr txBox="1"/>
          <p:nvPr/>
        </p:nvSpPr>
        <p:spPr>
          <a:xfrm>
            <a:off x="4049486" y="3380378"/>
            <a:ext cx="3461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>
                <a:latin typeface="Acumin Pro Black" panose="020B0904020202020204" pitchFamily="34" charset="0"/>
              </a:rPr>
              <a:t>INSERT YOUR SESSION QRCODE HERE</a:t>
            </a:r>
          </a:p>
        </p:txBody>
      </p:sp>
      <p:pic>
        <p:nvPicPr>
          <p:cNvPr id="2" name="Graphique 5">
            <a:extLst>
              <a:ext uri="{FF2B5EF4-FFF2-40B4-BE49-F238E27FC236}">
                <a16:creationId xmlns:a16="http://schemas.microsoft.com/office/drawing/2014/main" id="{8C7569A3-761E-DEAA-1C30-F448FEB741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3433" y="1514958"/>
            <a:ext cx="1679652" cy="1865420"/>
          </a:xfrm>
          <a:prstGeom prst="rect">
            <a:avLst/>
          </a:prstGeom>
        </p:spPr>
      </p:pic>
      <p:pic>
        <p:nvPicPr>
          <p:cNvPr id="7" name="Picture 6" descr="The image depicts a QR code, which, when scanned, directs users to a webpage offering instructions on automating upstream synchronization with GitHub Copilot and PowerShell MCP.  AI-generated content may be incorrect.">
            <a:extLst>
              <a:ext uri="{FF2B5EF4-FFF2-40B4-BE49-F238E27FC236}">
                <a16:creationId xmlns:a16="http://schemas.microsoft.com/office/drawing/2014/main" id="{A666405C-7A78-B161-6B69-120F4EB714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452" y="1338825"/>
            <a:ext cx="4845724" cy="498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74605"/>
      </p:ext>
    </p:extLst>
  </p:cSld>
  <p:clrMapOvr>
    <a:masterClrMapping/>
  </p:clrMapOvr>
</p:sld>
</file>

<file path=ppt/theme/theme1.xml><?xml version="1.0" encoding="utf-8"?>
<a:theme xmlns:a="http://schemas.openxmlformats.org/drawingml/2006/main" name="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Speaker's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tent">
  <a:themeElements>
    <a:clrScheme name="PSConfE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PSConfEU202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3502FDC476714EB47BD1BE2BFD7B3D" ma:contentTypeVersion="13" ma:contentTypeDescription="Create a new document." ma:contentTypeScope="" ma:versionID="0d4fb5ca5076182280cb93c7d6bdff79">
  <xsd:schema xmlns:xsd="http://www.w3.org/2001/XMLSchema" xmlns:xs="http://www.w3.org/2001/XMLSchema" xmlns:p="http://schemas.microsoft.com/office/2006/metadata/properties" xmlns:ns2="abdc9a1f-962e-4235-838d-61f9c438f4db" xmlns:ns3="de47e97d-64fd-4aef-b10e-fd7d6cfcfcf4" targetNamespace="http://schemas.microsoft.com/office/2006/metadata/properties" ma:root="true" ma:fieldsID="da14a0effa8c0f0120811d0692d695e7" ns2:_="" ns3:_="">
    <xsd:import namespace="abdc9a1f-962e-4235-838d-61f9c438f4db"/>
    <xsd:import namespace="de47e97d-64fd-4aef-b10e-fd7d6cfcfcf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dc9a1f-962e-4235-838d-61f9c438f4d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bd613703-4b30-4a23-b3bf-9e58a81c4a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47e97d-64fd-4aef-b10e-fd7d6cfcfcf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f96598e-1e7b-44ab-a102-458ae76ccdba}" ma:internalName="TaxCatchAll" ma:showField="CatchAllData" ma:web="de47e97d-64fd-4aef-b10e-fd7d6cfcfc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bdc9a1f-962e-4235-838d-61f9c438f4db">
      <Terms xmlns="http://schemas.microsoft.com/office/infopath/2007/PartnerControls"/>
    </lcf76f155ced4ddcb4097134ff3c332f>
    <TaxCatchAll xmlns="de47e97d-64fd-4aef-b10e-fd7d6cfcfcf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38D965-436F-4DCC-97AA-50BEF4F7BE29}">
  <ds:schemaRefs>
    <ds:schemaRef ds:uri="abdc9a1f-962e-4235-838d-61f9c438f4db"/>
    <ds:schemaRef ds:uri="de47e97d-64fd-4aef-b10e-fd7d6cfcfc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A9C06E3-346E-408E-B352-32E922A070CE}">
  <ds:schemaRefs>
    <ds:schemaRef ds:uri="2347cc20-e10c-452d-848a-c18e83138525"/>
    <ds:schemaRef ds:uri="58c243a5-121d-4837-b81c-114e1b569ece"/>
    <ds:schemaRef ds:uri="77f18391-c91f-4725-9130-63caf76c1806"/>
    <ds:schemaRef ds:uri="85c0ce47-fe9c-4809-bf88-519c39a738e6"/>
    <ds:schemaRef ds:uri="abdc9a1f-962e-4235-838d-61f9c438f4db"/>
    <ds:schemaRef ds:uri="de47e97d-64fd-4aef-b10e-fd7d6cfcfcf4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7D9B22B-F436-4FE5-B6C0-65AB2260F5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3003</TotalTime>
  <Words>299</Words>
  <Application>Microsoft Office PowerPoint</Application>
  <PresentationFormat>Widescreen</PresentationFormat>
  <Paragraphs>95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Acumin Pro Black</vt:lpstr>
      <vt:lpstr>Arial</vt:lpstr>
      <vt:lpstr>Calibri</vt:lpstr>
      <vt:lpstr>Segoe UI</vt:lpstr>
      <vt:lpstr>Segoe UI Light</vt:lpstr>
      <vt:lpstr>Stencil</vt:lpstr>
      <vt:lpstr>Wingdings</vt:lpstr>
      <vt:lpstr>Title</vt:lpstr>
      <vt:lpstr>Blank</vt:lpstr>
      <vt:lpstr>Speaker's slide</vt:lpstr>
      <vt:lpstr>Content</vt:lpstr>
      <vt:lpstr>Next Up:</vt:lpstr>
      <vt:lpstr>3</vt:lpstr>
      <vt:lpstr>2</vt:lpstr>
      <vt:lpstr>1</vt:lpstr>
      <vt:lpstr>Automate your Upstream Sync with GitHub Copilot and PowerShell MCP</vt:lpstr>
      <vt:lpstr>Many thanks to our sponsors:</vt:lpstr>
      <vt:lpstr>Tess Gauthier</vt:lpstr>
      <vt:lpstr>Agenda</vt:lpstr>
      <vt:lpstr>Opportunity</vt:lpstr>
      <vt:lpstr>Workflow  Overview</vt:lpstr>
      <vt:lpstr>Demos</vt:lpstr>
      <vt:lpstr>Merge Phase Learnings</vt:lpstr>
      <vt:lpstr>Demos</vt:lpstr>
      <vt:lpstr>Build Phase Learnings</vt:lpstr>
      <vt:lpstr>Demos</vt:lpstr>
      <vt:lpstr>Validation Phase Learnings</vt:lpstr>
      <vt:lpstr>Demos</vt:lpstr>
      <vt:lpstr>PowerPoint Presentation</vt:lpstr>
      <vt:lpstr>Takeaways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Tess Gauthier</dc:creator>
  <cp:lastModifiedBy>Tess Gauthier</cp:lastModifiedBy>
  <cp:revision>22</cp:revision>
  <dcterms:created xsi:type="dcterms:W3CDTF">2024-03-26T13:08:23Z</dcterms:created>
  <dcterms:modified xsi:type="dcterms:W3CDTF">2026-06-04T07:36:24Z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0x010100333502FDC476714EB47BD1BE2BFD7B3D</vt:lpwstr>
  </property>
  <property fmtid="{D5CDD505-2E9C-101B-9397-08002B2CF9AE}" pid="3" name="MediaServiceImageTags">
    <vt:lpwstr/>
  </property>
</Properties>
</file>