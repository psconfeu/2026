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7" r:id="rId5"/>
    <p:sldMasterId id="2147483695" r:id="rId6"/>
    <p:sldMasterId id="2147483684" r:id="rId7"/>
  </p:sldMasterIdLst>
  <p:notesMasterIdLst>
    <p:notesMasterId r:id="rId25"/>
  </p:notesMasterIdLst>
  <p:handoutMasterIdLst>
    <p:handoutMasterId r:id="rId26"/>
  </p:handoutMasterIdLst>
  <p:sldIdLst>
    <p:sldId id="272" r:id="rId8"/>
    <p:sldId id="259" r:id="rId9"/>
    <p:sldId id="269" r:id="rId10"/>
    <p:sldId id="270" r:id="rId11"/>
    <p:sldId id="273" r:id="rId12"/>
    <p:sldId id="261" r:id="rId13"/>
    <p:sldId id="267" r:id="rId14"/>
    <p:sldId id="307" r:id="rId15"/>
    <p:sldId id="301" r:id="rId16"/>
    <p:sldId id="306" r:id="rId17"/>
    <p:sldId id="308" r:id="rId18"/>
    <p:sldId id="264" r:id="rId19"/>
    <p:sldId id="309" r:id="rId20"/>
    <p:sldId id="305" r:id="rId21"/>
    <p:sldId id="310" r:id="rId22"/>
    <p:sldId id="265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>
            <p14:sldId id="272"/>
            <p14:sldId id="259"/>
            <p14:sldId id="269"/>
            <p14:sldId id="270"/>
          </p14:sldIdLst>
        </p14:section>
        <p14:section name="The session" id="{9BCE8471-468A-4538-82B3-E4E62B0A593E}">
          <p14:sldIdLst>
            <p14:sldId id="273"/>
            <p14:sldId id="261"/>
            <p14:sldId id="267"/>
            <p14:sldId id="307"/>
            <p14:sldId id="301"/>
            <p14:sldId id="306"/>
            <p14:sldId id="308"/>
            <p14:sldId id="264"/>
            <p14:sldId id="309"/>
            <p14:sldId id="305"/>
            <p14:sldId id="310"/>
            <p14:sldId id="26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466E"/>
    <a:srgbClr val="346297"/>
    <a:srgbClr val="DDE4ED"/>
    <a:srgbClr val="3B2A47"/>
    <a:srgbClr val="3B2B46"/>
    <a:srgbClr val="000000"/>
    <a:srgbClr val="FFFFFF"/>
    <a:srgbClr val="346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283" autoAdjust="0"/>
  </p:normalViewPr>
  <p:slideViewPr>
    <p:cSldViewPr snapToGrid="0">
      <p:cViewPr varScale="1">
        <p:scale>
          <a:sx n="48" d="100"/>
          <a:sy n="48" d="100"/>
        </p:scale>
        <p:origin x="13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53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26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0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944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80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CD1B-F193-A2F7-7541-B7145721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5BE50-7E7B-BB14-7423-659048B5A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4F212-640A-4AC5-EF7C-1F9A62459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A642C-15E3-4B65-8E50-FAAF76132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772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847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308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4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Speaker’s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B6AA1A-3151-3AC2-83FB-1C6A4D626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8E8CAF-D224-9556-511F-8D65E9383F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91" y="137310"/>
            <a:ext cx="4166241" cy="1426795"/>
          </a:xfrm>
          <a:prstGeom prst="rect">
            <a:avLst/>
          </a:prstGeom>
        </p:spPr>
      </p:pic>
      <p:pic>
        <p:nvPicPr>
          <p:cNvPr id="8" name="Image 7" descr="Une image contenant Police, Graphique, typographie, graphisme&#10;&#10;Le contenu généré par l’IA peut être incorrect.">
            <a:extLst>
              <a:ext uri="{FF2B5EF4-FFF2-40B4-BE49-F238E27FC236}">
                <a16:creationId xmlns:a16="http://schemas.microsoft.com/office/drawing/2014/main" id="{B287398A-20D9-4E87-9997-CB57AB2CCE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0" y="6074646"/>
            <a:ext cx="2471121" cy="37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B2B46"/>
                </a:solidFill>
              </a:rPr>
              <a:t>@tgauth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B2B46"/>
                </a:solidFill>
              </a:rPr>
              <a:t>@tgauth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4057C36-7CA7-EB30-FD33-9F60CDAC50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jpg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sccommunity.org/" TargetMode="External"/><Relationship Id="rId2" Type="http://schemas.openxmlformats.org/officeDocument/2006/relationships/hyperlink" Target="https://github.com/powershell/dsc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jpeg"/><Relationship Id="rId4" Type="http://schemas.openxmlformats.org/officeDocument/2006/relationships/hyperlink" Target="https://opendsc.dev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12BD2B3-5213-AE89-B245-3E2067844782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Tess Gauthier</a:t>
            </a:r>
            <a:endParaRPr lang="en-GB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E9631884-5100-1BA8-2365-47609B2977D7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4">
            <a:extLst>
              <a:ext uri="{FF2B5EF4-FFF2-40B4-BE49-F238E27FC236}">
                <a16:creationId xmlns:a16="http://schemas.microsoft.com/office/drawing/2014/main" id="{EC34FE26-AFCF-2A09-DB2E-84FFA4D454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3600" y="2672840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DE" sz="6000" b="1" dirty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r>
              <a:rPr lang="en-US" sz="6000" b="1" dirty="0" err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ext</a:t>
            </a:r>
            <a:r>
              <a:rPr lang="en-US" sz="6000" b="1" dirty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Up:</a:t>
            </a:r>
            <a:endParaRPr lang="en-DE" sz="6000" b="1" dirty="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88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82643D59-896E-68AE-5BCA-3F8558F198E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3</a:t>
            </a:r>
            <a:endParaRPr lang="en-GB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04164"/>
      </p:ext>
    </p:extLst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012733"/>
      </p:ext>
    </p:extLst>
  </p:cSld>
  <p:clrMapOvr>
    <a:masterClrMapping/>
  </p:clrMapOvr>
  <p:transition spd="slow" advTm="100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latin typeface="Stencil" panose="040409050D0802020404" pitchFamily="82" charset="0"/>
              </a:rPr>
              <a:t>1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1530"/>
      </p:ext>
    </p:extLst>
  </p:cSld>
  <p:clrMapOvr>
    <a:masterClrMapping/>
  </p:clrMapOvr>
  <p:transition spd="slow" advTm="1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 dirty="0"/>
              <a:t>Tess Gauthier</a:t>
            </a:r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666707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US" sz="6600" b="1" dirty="0">
                <a:solidFill>
                  <a:srgbClr val="346296"/>
                </a:solidFill>
                <a:latin typeface="+mn-lt"/>
              </a:rPr>
              <a:t>Authoring and Using </a:t>
            </a:r>
            <a:br>
              <a:rPr lang="en-US" sz="6600" b="1" dirty="0">
                <a:solidFill>
                  <a:srgbClr val="346296"/>
                </a:solidFill>
                <a:latin typeface="+mn-lt"/>
              </a:rPr>
            </a:br>
            <a:r>
              <a:rPr lang="en-US" sz="6600" b="1" dirty="0">
                <a:solidFill>
                  <a:srgbClr val="346296"/>
                </a:solidFill>
                <a:latin typeface="+mn-lt"/>
              </a:rPr>
              <a:t>DSC v3 Resources</a:t>
            </a:r>
            <a:endParaRPr lang="en-DE" sz="6600" b="1" dirty="0">
              <a:solidFill>
                <a:srgbClr val="34629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81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31CB4D-40EE-4CEA-4C1F-A86C158A8A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Many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thanks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to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our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2" name="Graphique 6">
            <a:extLst>
              <a:ext uri="{FF2B5EF4-FFF2-40B4-BE49-F238E27FC236}">
                <a16:creationId xmlns:a16="http://schemas.microsoft.com/office/drawing/2014/main" id="{56B20C8F-B2CB-B1F9-8E7F-3897FE369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2511" y="2103684"/>
            <a:ext cx="8666977" cy="265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3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SCONF.EU.  AI-generated content may be incorrect.">
            <a:extLst>
              <a:ext uri="{FF2B5EF4-FFF2-40B4-BE49-F238E27FC236}">
                <a16:creationId xmlns:a16="http://schemas.microsoft.com/office/drawing/2014/main" id="{5DEA72FA-1F1B-9BCD-7BD9-2B6B68FBF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9" y="135884"/>
            <a:ext cx="2880366" cy="2880366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312970-1382-905E-DF3A-5D367E6E7736}"/>
              </a:ext>
            </a:extLst>
          </p:cNvPr>
          <p:cNvSpPr txBox="1">
            <a:spLocks/>
          </p:cNvSpPr>
          <p:nvPr/>
        </p:nvSpPr>
        <p:spPr>
          <a:xfrm>
            <a:off x="3467312" y="1972681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Software Engineer at Microsoft on the PowerShell/DSC/OpenSSH Team</a:t>
            </a:r>
          </a:p>
          <a:p>
            <a:pPr marL="0" indent="0">
              <a:buNone/>
            </a:pPr>
            <a:endParaRPr lang="en-US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Second PSConfEU!</a:t>
            </a:r>
          </a:p>
          <a:p>
            <a:pPr marL="0" indent="0">
              <a:buNone/>
            </a:pPr>
            <a:endParaRPr lang="en-US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Fun fact: I spent a semester studying in Germany at TU Dresden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F84C9-7486-D81C-EDE7-12CE856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2" y="324852"/>
            <a:ext cx="7886485" cy="1325563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Tess Gauthier</a:t>
            </a:r>
            <a:endParaRPr lang="en-DE" sz="6600" dirty="0">
              <a:solidFill>
                <a:srgbClr val="3B2A47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4267F-BB82-63F9-E43C-7203075047F4}"/>
              </a:ext>
            </a:extLst>
          </p:cNvPr>
          <p:cNvSpPr txBox="1"/>
          <p:nvPr/>
        </p:nvSpPr>
        <p:spPr>
          <a:xfrm>
            <a:off x="3570890" y="1281083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i="1" dirty="0">
                <a:solidFill>
                  <a:srgbClr val="3B2A47"/>
                </a:solidFill>
              </a:rPr>
              <a:t>Sh</a:t>
            </a:r>
            <a:r>
              <a:rPr lang="en-US" sz="1800" b="0" i="1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e/Her</a:t>
            </a:r>
            <a:r>
              <a:rPr lang="en-US" sz="1800" b="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)</a:t>
            </a:r>
            <a:endParaRPr lang="en-DE" sz="1800" b="0" dirty="0">
              <a:solidFill>
                <a:srgbClr val="3B2A47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09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B348-EBCF-27C9-A68D-A424B84A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DSCv3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25DE-86A3-08DA-77F9-8AB7B8E6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840" y="1589925"/>
            <a:ext cx="10515600" cy="4351338"/>
          </a:xfrm>
        </p:spPr>
        <p:txBody>
          <a:bodyPr>
            <a:noAutofit/>
          </a:bodyPr>
          <a:lstStyle/>
          <a:p>
            <a:r>
              <a:rPr lang="en-US" sz="4000" dirty="0"/>
              <a:t> Declarative</a:t>
            </a:r>
          </a:p>
          <a:p>
            <a:r>
              <a:rPr lang="en-US" sz="4000" dirty="0"/>
              <a:t> Idempotent</a:t>
            </a:r>
          </a:p>
          <a:p>
            <a:r>
              <a:rPr lang="en-US" sz="4000" dirty="0"/>
              <a:t> Concepts:</a:t>
            </a:r>
          </a:p>
          <a:p>
            <a:pPr lvl="1"/>
            <a:r>
              <a:rPr lang="en-US" sz="4000">
                <a:solidFill>
                  <a:schemeClr val="accent1"/>
                </a:solidFill>
              </a:rPr>
              <a:t>Configurations</a:t>
            </a:r>
          </a:p>
          <a:p>
            <a:pPr lvl="1"/>
            <a:r>
              <a:rPr lang="en-US" sz="4000" dirty="0">
                <a:solidFill>
                  <a:schemeClr val="accent1"/>
                </a:solidFill>
              </a:rPr>
              <a:t>Resources</a:t>
            </a:r>
          </a:p>
          <a:p>
            <a:pPr lvl="1"/>
            <a:r>
              <a:rPr lang="en-US" sz="4000" dirty="0">
                <a:solidFill>
                  <a:schemeClr val="accent1"/>
                </a:solidFill>
              </a:rPr>
              <a:t>Adapters</a:t>
            </a:r>
          </a:p>
          <a:p>
            <a:pPr lvl="1"/>
            <a:r>
              <a:rPr lang="en-US" sz="4000" dirty="0">
                <a:solidFill>
                  <a:schemeClr val="accent1"/>
                </a:solidFill>
              </a:rPr>
              <a:t>Extensions</a:t>
            </a:r>
          </a:p>
        </p:txBody>
      </p:sp>
      <p:pic>
        <p:nvPicPr>
          <p:cNvPr id="5" name="Background Ocean" descr="The image depicts a serene underwater scene with a clear blue ocean, a sunlit surface, and scattered bioluminescent fish.  AI-generated content may be incorrect.">
            <a:extLst>
              <a:ext uri="{FF2B5EF4-FFF2-40B4-BE49-F238E27FC236}">
                <a16:creationId xmlns:a16="http://schemas.microsoft.com/office/drawing/2014/main" id="{DF9C1F5C-AADF-F022-5CB3-80748F29B8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46" b="9115"/>
          <a:stretch>
            <a:fillRect/>
          </a:stretch>
        </p:blipFill>
        <p:spPr>
          <a:xfrm flipH="1">
            <a:off x="6096000" y="1589925"/>
            <a:ext cx="4927600" cy="4366930"/>
          </a:xfrm>
          <a:prstGeom prst="round2DiagRect">
            <a:avLst>
              <a:gd name="adj1" fmla="val 0"/>
              <a:gd name="adj2" fmla="val 22335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257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FA7C-9373-40C1-821E-28AF7177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Introduction: SSHD_Config</a:t>
            </a:r>
          </a:p>
        </p:txBody>
      </p:sp>
      <p:pic>
        <p:nvPicPr>
          <p:cNvPr id="9" name="Picture 8" descr="The text describes a configuration file for an SSH server, specifying various security and access control settings.  AI-generated content may be incorrect.">
            <a:extLst>
              <a:ext uri="{FF2B5EF4-FFF2-40B4-BE49-F238E27FC236}">
                <a16:creationId xmlns:a16="http://schemas.microsoft.com/office/drawing/2014/main" id="{6E672B97-4F3F-2520-B313-545A5A9E1E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156"/>
          <a:stretch>
            <a:fillRect/>
          </a:stretch>
        </p:blipFill>
        <p:spPr>
          <a:xfrm>
            <a:off x="5592693" y="1487836"/>
            <a:ext cx="6587802" cy="4521361"/>
          </a:xfrm>
          <a:prstGeom prst="rect">
            <a:avLst/>
          </a:prstGeom>
        </p:spPr>
      </p:pic>
      <p:pic>
        <p:nvPicPr>
          <p:cNvPr id="11" name="Picture 10" descr="The image is a configuration file snippet for the OpenSSH server, detailing default settings for port, address family, listen addresses, and various key types, with instructions to uncomment for customization.  AI-generated content may be incorrect.">
            <a:extLst>
              <a:ext uri="{FF2B5EF4-FFF2-40B4-BE49-F238E27FC236}">
                <a16:creationId xmlns:a16="http://schemas.microsoft.com/office/drawing/2014/main" id="{95587D08-749A-A3F3-A2BF-95140D9A84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88"/>
          <a:stretch>
            <a:fillRect/>
          </a:stretch>
        </p:blipFill>
        <p:spPr>
          <a:xfrm>
            <a:off x="106392" y="1479211"/>
            <a:ext cx="5509404" cy="4521361"/>
          </a:xfrm>
          <a:prstGeom prst="rect">
            <a:avLst/>
          </a:prstGeom>
        </p:spPr>
      </p:pic>
      <p:pic>
        <p:nvPicPr>
          <p:cNvPr id="13" name="Picture 12" descr="The image displays a command line error message indicating that the attempt to start the 'sshd' service on a Windows system has failed.  AI-generated content may be incorrect.">
            <a:extLst>
              <a:ext uri="{FF2B5EF4-FFF2-40B4-BE49-F238E27FC236}">
                <a16:creationId xmlns:a16="http://schemas.microsoft.com/office/drawing/2014/main" id="{16F4D041-7005-AE75-2534-F472F5245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6788" y="3178162"/>
            <a:ext cx="7258423" cy="5016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000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F2A3-62CA-8236-336B-D091FEF86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24AA71-DF98-F7E5-086C-EC2556AC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>
            <a:normAutofit/>
          </a:bodyPr>
          <a:lstStyle/>
          <a:p>
            <a:r>
              <a:rPr lang="en-GB" sz="5400"/>
              <a:t>Demo: Audit</a:t>
            </a:r>
            <a:endParaRPr lang="en-GB" sz="5400" dirty="0"/>
          </a:p>
        </p:txBody>
      </p:sp>
      <p:pic>
        <p:nvPicPr>
          <p:cNvPr id="3" name="Sonar Scan" descr="The image depicts an underwater scene with a glowing, circular light source emanating from the bottom, casting a blue hue on the surrounding rocky terrain.  AI-generated content may be incorrect.">
            <a:extLst>
              <a:ext uri="{FF2B5EF4-FFF2-40B4-BE49-F238E27FC236}">
                <a16:creationId xmlns:a16="http://schemas.microsoft.com/office/drawing/2014/main" id="{7400775C-8EDA-9AE1-5EA2-417CAB625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173" y="1635626"/>
            <a:ext cx="6507653" cy="433843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920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DE265-F3A4-5D45-DDE1-89BF9FDDF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AF38AA-53E7-AFDB-AAAD-FED19DED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>
            <a:normAutofit/>
          </a:bodyPr>
          <a:lstStyle/>
          <a:p>
            <a:r>
              <a:rPr lang="en-GB" sz="5400"/>
              <a:t>Demo: Configure</a:t>
            </a:r>
            <a:endParaRPr lang="en-GB" sz="5400" dirty="0"/>
          </a:p>
        </p:txBody>
      </p:sp>
      <p:pic>
        <p:nvPicPr>
          <p:cNvPr id="7" name="Robotic Arms" descr="The image depicts a futuristic underwater robotic factory with numerous machines and structures, illuminated by artificial lighting, amidst a rocky, oceanic environment.  AI-generated content may be incorrect.">
            <a:extLst>
              <a:ext uri="{FF2B5EF4-FFF2-40B4-BE49-F238E27FC236}">
                <a16:creationId xmlns:a16="http://schemas.microsoft.com/office/drawing/2014/main" id="{4C8692C0-B63D-8991-7889-F028FCA8A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480" y="1696720"/>
            <a:ext cx="6543040" cy="4362026"/>
          </a:xfrm>
          <a:prstGeom prst="round2DiagRect">
            <a:avLst>
              <a:gd name="adj1" fmla="val 1457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7146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>
            <a:normAutofit/>
          </a:bodyPr>
          <a:lstStyle/>
          <a:p>
            <a:r>
              <a:rPr lang="en-GB" sz="5400"/>
              <a:t>Demo: Author</a:t>
            </a:r>
            <a:endParaRPr lang="en-GB" sz="5400" dirty="0"/>
          </a:p>
        </p:txBody>
      </p:sp>
      <p:pic>
        <p:nvPicPr>
          <p:cNvPr id="11" name="Holographic Bluepri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241" y="1584826"/>
            <a:ext cx="6749517" cy="449967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7259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Cartoon Doc">
            <a:extLst>
              <a:ext uri="{FF2B5EF4-FFF2-40B4-BE49-F238E27FC236}">
                <a16:creationId xmlns:a16="http://schemas.microsoft.com/office/drawing/2014/main" id="{A1B2C3D4-1234-5678-9ABC-DEF012345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" y="2045440"/>
            <a:ext cx="2170000" cy="2800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" name="Picture 3" descr="The image depicts a tall, green tree with a small, wooden house nestled at its top, surrounded by a grassy, leafy base. AI-generated content may be incorrect.">
            <a:extLst>
              <a:ext uri="{FF2B5EF4-FFF2-40B4-BE49-F238E27FC236}">
                <a16:creationId xmlns:a16="http://schemas.microsoft.com/office/drawing/2014/main" id="{93322D87-0D4D-5AC9-C995-5F252325D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160" y="2045440"/>
            <a:ext cx="2800000" cy="28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14A8AA-16AE-AA7B-484F-6F515EF39FC7}"/>
              </a:ext>
            </a:extLst>
          </p:cNvPr>
          <p:cNvSpPr txBox="1"/>
          <p:nvPr/>
        </p:nvSpPr>
        <p:spPr>
          <a:xfrm>
            <a:off x="3076060" y="5045440"/>
            <a:ext cx="680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https://tree-sitter.github.io/tree-sitter/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F95946E-8043-E270-6D4F-9D8D7C948EED}"/>
              </a:ext>
            </a:extLst>
          </p:cNvPr>
          <p:cNvSpPr/>
          <p:nvPr/>
        </p:nvSpPr>
        <p:spPr>
          <a:xfrm>
            <a:off x="2990320" y="2845679"/>
            <a:ext cx="1316340" cy="1004637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Hashmap">
            <a:extLst>
              <a:ext uri="{FF2B5EF4-FFF2-40B4-BE49-F238E27FC236}">
                <a16:creationId xmlns:a16="http://schemas.microsoft.com/office/drawing/2014/main" id="{B2C3D4E5-2345-6789-ABCD-EF0123456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360" y="2145440"/>
            <a:ext cx="1943200" cy="2800000"/>
          </a:xfrm>
          <a:prstGeom prst="rect">
            <a:avLst/>
          </a:prstGeom>
        </p:spPr>
      </p:pic>
      <p:sp>
        <p:nvSpPr>
          <p:cNvPr id="16" name="Title 3">
            <a:extLst>
              <a:ext uri="{FF2B5EF4-FFF2-40B4-BE49-F238E27FC236}">
                <a16:creationId xmlns:a16="http://schemas.microsoft.com/office/drawing/2014/main" id="{9DE2BFD6-4433-6499-346E-2CB4BD18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4003"/>
            <a:ext cx="10515600" cy="1004637"/>
          </a:xfrm>
        </p:spPr>
        <p:txBody>
          <a:bodyPr>
            <a:normAutofit/>
          </a:bodyPr>
          <a:lstStyle/>
          <a:p>
            <a:r>
              <a:rPr lang="en-GB" sz="5400"/>
              <a:t>Resource Deep-Dive</a:t>
            </a:r>
            <a:endParaRPr lang="en-GB" sz="54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EFFDEFF-F723-A38F-967F-9AD1C1279258}"/>
              </a:ext>
            </a:extLst>
          </p:cNvPr>
          <p:cNvSpPr/>
          <p:nvPr/>
        </p:nvSpPr>
        <p:spPr>
          <a:xfrm>
            <a:off x="7900090" y="2845679"/>
            <a:ext cx="1316340" cy="1004637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Cartoon Diver" descr="A diver in a blue swimsuit is underwater, floating in a bubble of air.&#10;&#10;AI-generated content may be incorrect.">
            <a:extLst>
              <a:ext uri="{FF2B5EF4-FFF2-40B4-BE49-F238E27FC236}">
                <a16:creationId xmlns:a16="http://schemas.microsoft.com/office/drawing/2014/main" id="{3B5FDAA2-309A-BD9A-F180-66CACB511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421622" flipV="1">
            <a:off x="7149330" y="-38553"/>
            <a:ext cx="1356661" cy="199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63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3C3A-B636-4530-A8F4-8EDD6356F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AC6FD-F53E-4CEA-A145-B4A92631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04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457200" lvl="1" indent="0">
              <a:buNone/>
            </a:pPr>
            <a:endParaRPr lang="en-US" sz="1100" dirty="0"/>
          </a:p>
          <a:p>
            <a:pPr lvl="1"/>
            <a:r>
              <a:rPr lang="en-US" sz="3900" dirty="0"/>
              <a:t>Keep resource behavior simple</a:t>
            </a:r>
          </a:p>
          <a:p>
            <a:pPr marL="457200" lvl="1" indent="0">
              <a:buNone/>
            </a:pPr>
            <a:endParaRPr lang="en-US" sz="3900" dirty="0"/>
          </a:p>
          <a:p>
            <a:pPr lvl="1"/>
            <a:r>
              <a:rPr lang="en-US" sz="3900" dirty="0"/>
              <a:t>Leverage canonical properties</a:t>
            </a:r>
          </a:p>
          <a:p>
            <a:pPr lvl="2"/>
            <a:r>
              <a:rPr lang="en-US" sz="3900" dirty="0"/>
              <a:t>_exist</a:t>
            </a:r>
          </a:p>
          <a:p>
            <a:pPr lvl="2"/>
            <a:r>
              <a:rPr lang="en-US" sz="3900" dirty="0"/>
              <a:t>_purge</a:t>
            </a:r>
          </a:p>
          <a:p>
            <a:pPr lvl="1"/>
            <a:endParaRPr lang="en-US" sz="3900" dirty="0"/>
          </a:p>
          <a:p>
            <a:pPr lvl="1"/>
            <a:r>
              <a:rPr lang="en-US" sz="3900" dirty="0"/>
              <a:t>Use DSC + sshd resources to audit and configure SSH Server settings at scale</a:t>
            </a:r>
          </a:p>
          <a:p>
            <a:pPr lvl="1"/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5" name="Pearl Image" descr="The image depicts a vibrant underwater scene with a glowing, translucent seashell floating amidst a colorful coral reef and sea life.  AI-generated content may be incorrect.">
            <a:extLst>
              <a:ext uri="{FF2B5EF4-FFF2-40B4-BE49-F238E27FC236}">
                <a16:creationId xmlns:a16="http://schemas.microsoft.com/office/drawing/2014/main" id="{698B57FF-2B9C-4A81-2DFF-8CD5C15E05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66" t="21085" r="9334" b="13151"/>
          <a:stretch>
            <a:fillRect/>
          </a:stretch>
        </p:blipFill>
        <p:spPr>
          <a:xfrm>
            <a:off x="8747760" y="1825625"/>
            <a:ext cx="3251200" cy="26726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00000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F72588A-8506-99AC-166A-C1B7A84E1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Involved!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2B90E-459B-1A0A-89ED-DDF46275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862" y="2141537"/>
            <a:ext cx="10515600" cy="4351338"/>
          </a:xfrm>
        </p:spPr>
        <p:txBody>
          <a:bodyPr/>
          <a:lstStyle/>
          <a:p>
            <a:pPr lvl="1"/>
            <a:r>
              <a:rPr lang="en-US" dirty="0">
                <a:solidFill>
                  <a:srgbClr val="FFFFFF"/>
                </a:solidFill>
                <a:hlinkClick r:id="rId2"/>
              </a:rPr>
              <a:t>https://github.com/powershell/dsc</a:t>
            </a:r>
            <a:endParaRPr lang="en-US" dirty="0">
              <a:solidFill>
                <a:srgbClr val="FFFFFF"/>
              </a:solidFill>
            </a:endParaRP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>
                <a:solidFill>
                  <a:srgbClr val="FFFFFF"/>
                </a:solidFill>
                <a:hlinkClick r:id="rId3"/>
              </a:rPr>
              <a:t>https://dsccommunity.org/</a:t>
            </a:r>
            <a:endParaRPr lang="en-US" dirty="0">
              <a:solidFill>
                <a:srgbClr val="FFFFFF"/>
              </a:solidFill>
            </a:endParaRP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>
                <a:solidFill>
                  <a:srgbClr val="FFFFFF"/>
                </a:solidFill>
                <a:hlinkClick r:id="rId4"/>
              </a:rPr>
              <a:t>https://opendsc.dev/</a:t>
            </a:r>
            <a:endParaRPr lang="en-US" dirty="0">
              <a:solidFill>
                <a:srgbClr val="FFFFFF"/>
              </a:solidFill>
            </a:endParaRPr>
          </a:p>
          <a:p>
            <a:endParaRPr lang="en-US" dirty="0"/>
          </a:p>
        </p:txBody>
      </p:sp>
      <p:pic>
        <p:nvPicPr>
          <p:cNvPr id="14" name="Picture 13" descr="The image is a vibrant, colorful underwater scene filled with numerous small, cheerful fish swimming amidst a ray of sunlight.&#10;&#10;AI-generated content may be incorrect.">
            <a:extLst>
              <a:ext uri="{FF2B5EF4-FFF2-40B4-BE49-F238E27FC236}">
                <a16:creationId xmlns:a16="http://schemas.microsoft.com/office/drawing/2014/main" id="{F78CDEA7-651D-679B-E932-0E0E542F87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027066" y="1851501"/>
            <a:ext cx="4846797" cy="3231198"/>
          </a:xfrm>
          <a:prstGeom prst="round2DiagRect">
            <a:avLst>
              <a:gd name="adj1" fmla="val 16667"/>
              <a:gd name="adj2" fmla="val 3327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2159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Q&amp;A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911686-C4FE-022C-2490-99F4F5BFDF39}"/>
              </a:ext>
            </a:extLst>
          </p:cNvPr>
          <p:cNvSpPr txBox="1">
            <a:spLocks/>
          </p:cNvSpPr>
          <p:nvPr/>
        </p:nvSpPr>
        <p:spPr>
          <a:xfrm>
            <a:off x="831850" y="165375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15 minutes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1770873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2B4B-CF61-3DC5-6221-F5F99F86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AFF23A2-578F-B7AD-CC96-F1E75AA0FD82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GIVE ME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9FEC-D0B6-03AA-2C12-1CA5AE4EB596}"/>
              </a:ext>
            </a:extLst>
          </p:cNvPr>
          <p:cNvSpPr/>
          <p:nvPr/>
        </p:nvSpPr>
        <p:spPr>
          <a:xfrm>
            <a:off x="3831771" y="2046514"/>
            <a:ext cx="3868058" cy="3868058"/>
          </a:xfrm>
          <a:prstGeom prst="rect">
            <a:avLst/>
          </a:prstGeom>
          <a:noFill/>
          <a:ln w="38100">
            <a:solidFill>
              <a:srgbClr val="3B2A47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  <a:prstDash val="dash"/>
              </a:ln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D424B4-E900-F6B6-EAA3-A874A8F70DAC}"/>
              </a:ext>
            </a:extLst>
          </p:cNvPr>
          <p:cNvSpPr txBox="1"/>
          <p:nvPr/>
        </p:nvSpPr>
        <p:spPr>
          <a:xfrm>
            <a:off x="4049486" y="3380378"/>
            <a:ext cx="3461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>
                <a:latin typeface="Acumin Pro Black" panose="020B0904020202020204" pitchFamily="34" charset="0"/>
              </a:rPr>
              <a:t>INSERT YOUR SESSION QRCODE HERE</a:t>
            </a:r>
          </a:p>
        </p:txBody>
      </p:sp>
      <p:pic>
        <p:nvPicPr>
          <p:cNvPr id="2" name="Graphique 5">
            <a:extLst>
              <a:ext uri="{FF2B5EF4-FFF2-40B4-BE49-F238E27FC236}">
                <a16:creationId xmlns:a16="http://schemas.microsoft.com/office/drawing/2014/main" id="{8C7569A3-761E-DEAA-1C30-F448FEB74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3433" y="1514958"/>
            <a:ext cx="1679652" cy="1865420"/>
          </a:xfrm>
          <a:prstGeom prst="rect">
            <a:avLst/>
          </a:prstGeom>
        </p:spPr>
      </p:pic>
      <p:pic>
        <p:nvPicPr>
          <p:cNvPr id="7" name="Picture 6" descr="The image depicts a QR code, which is a two-dimensional barcode that can be scanned by a smartphone to reveal a QR Code reader or other information.  AI-generated content may be incorrect.">
            <a:extLst>
              <a:ext uri="{FF2B5EF4-FFF2-40B4-BE49-F238E27FC236}">
                <a16:creationId xmlns:a16="http://schemas.microsoft.com/office/drawing/2014/main" id="{543DAD0E-D337-B6B9-EC33-7807330284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225" y="1387589"/>
            <a:ext cx="4721549" cy="472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460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3" ma:contentTypeDescription="Create a new document." ma:contentTypeScope="" ma:versionID="0d4fb5ca5076182280cb93c7d6bdff79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da14a0effa8c0f0120811d0692d695e7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Props1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38D965-436F-4DCC-97AA-50BEF4F7BE29}">
  <ds:schemaRefs>
    <ds:schemaRef ds:uri="abdc9a1f-962e-4235-838d-61f9c438f4db"/>
    <ds:schemaRef ds:uri="de47e97d-64fd-4aef-b10e-fd7d6cfcfc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A9C06E3-346E-408E-B352-32E922A070CE}">
  <ds:schemaRefs>
    <ds:schemaRef ds:uri="2347cc20-e10c-452d-848a-c18e83138525"/>
    <ds:schemaRef ds:uri="58c243a5-121d-4837-b81c-114e1b569ece"/>
    <ds:schemaRef ds:uri="77f18391-c91f-4725-9130-63caf76c1806"/>
    <ds:schemaRef ds:uri="85c0ce47-fe9c-4809-bf88-519c39a738e6"/>
    <ds:schemaRef ds:uri="abdc9a1f-962e-4235-838d-61f9c438f4db"/>
    <ds:schemaRef ds:uri="de47e97d-64fd-4aef-b10e-fd7d6cfcfcf4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174</Words>
  <Application>Microsoft Office PowerPoint</Application>
  <PresentationFormat>Widescreen</PresentationFormat>
  <Paragraphs>62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Acumin Pro Black</vt:lpstr>
      <vt:lpstr>Arial</vt:lpstr>
      <vt:lpstr>Calibri</vt:lpstr>
      <vt:lpstr>Segoe UI</vt:lpstr>
      <vt:lpstr>Segoe UI Light</vt:lpstr>
      <vt:lpstr>Stencil</vt:lpstr>
      <vt:lpstr>Wingdings</vt:lpstr>
      <vt:lpstr>Title</vt:lpstr>
      <vt:lpstr>Blank</vt:lpstr>
      <vt:lpstr>Speaker's slide</vt:lpstr>
      <vt:lpstr>Content</vt:lpstr>
      <vt:lpstr>Next Up:</vt:lpstr>
      <vt:lpstr>3</vt:lpstr>
      <vt:lpstr>2</vt:lpstr>
      <vt:lpstr>1</vt:lpstr>
      <vt:lpstr>Authoring and Using  DSC v3 Resources</vt:lpstr>
      <vt:lpstr>Many thanks to our sponsors:</vt:lpstr>
      <vt:lpstr>Tess Gauthier</vt:lpstr>
      <vt:lpstr>Introduction: DSCv3</vt:lpstr>
      <vt:lpstr>Introduction: SSHD_Config</vt:lpstr>
      <vt:lpstr>Demo: Audit</vt:lpstr>
      <vt:lpstr>Demo: Configure</vt:lpstr>
      <vt:lpstr>Demo: Author</vt:lpstr>
      <vt:lpstr>Resource Deep-Dive</vt:lpstr>
      <vt:lpstr>Takeaways</vt:lpstr>
      <vt:lpstr>Get Involved!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Tess Gauthier</dc:creator>
  <cp:lastModifiedBy>Tess Gauthier</cp:lastModifiedBy>
  <cp:revision>23</cp:revision>
  <dcterms:created xsi:type="dcterms:W3CDTF">2024-03-26T13:08:23Z</dcterms:created>
  <dcterms:modified xsi:type="dcterms:W3CDTF">2026-05-31T18:54:25Z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0x010100333502FDC476714EB47BD1BE2BFD7B3D</vt:lpwstr>
  </property>
  <property fmtid="{D5CDD505-2E9C-101B-9397-08002B2CF9AE}" pid="3" name="MediaServiceImageTags">
    <vt:lpwstr/>
  </property>
</Properties>
</file>