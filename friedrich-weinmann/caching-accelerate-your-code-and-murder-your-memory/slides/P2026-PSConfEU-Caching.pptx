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4.xml" ContentType="application/vnd.openxmlformats-officedocument.theme+xml"/>
  <Override PartName="/ppt/slideLayouts/slideLayout1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97" r:id="rId5"/>
    <p:sldMasterId id="2147483695" r:id="rId6"/>
    <p:sldMasterId id="2147483684" r:id="rId7"/>
    <p:sldMasterId id="2147483702" r:id="rId8"/>
  </p:sldMasterIdLst>
  <p:notesMasterIdLst>
    <p:notesMasterId r:id="rId20"/>
  </p:notesMasterIdLst>
  <p:handoutMasterIdLst>
    <p:handoutMasterId r:id="rId21"/>
  </p:handoutMasterIdLst>
  <p:sldIdLst>
    <p:sldId id="272" r:id="rId9"/>
    <p:sldId id="259" r:id="rId10"/>
    <p:sldId id="269" r:id="rId11"/>
    <p:sldId id="270" r:id="rId12"/>
    <p:sldId id="273" r:id="rId13"/>
    <p:sldId id="275" r:id="rId14"/>
    <p:sldId id="276" r:id="rId15"/>
    <p:sldId id="277" r:id="rId16"/>
    <p:sldId id="264" r:id="rId17"/>
    <p:sldId id="265" r:id="rId18"/>
    <p:sldId id="27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efore the session" id="{9248E0E9-B469-42C5-B521-34DBB63F9E0C}">
          <p14:sldIdLst>
            <p14:sldId id="272"/>
            <p14:sldId id="259"/>
            <p14:sldId id="269"/>
            <p14:sldId id="270"/>
          </p14:sldIdLst>
        </p14:section>
        <p14:section name="The session" id="{9BCE8471-468A-4538-82B3-E4E62B0A593E}">
          <p14:sldIdLst>
            <p14:sldId id="273"/>
            <p14:sldId id="275"/>
            <p14:sldId id="276"/>
            <p14:sldId id="277"/>
            <p14:sldId id="264"/>
            <p14:sldId id="265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E4ED"/>
    <a:srgbClr val="3B2A47"/>
    <a:srgbClr val="3B2B46"/>
    <a:srgbClr val="346297"/>
    <a:srgbClr val="000000"/>
    <a:srgbClr val="FFFFFF"/>
    <a:srgbClr val="346296"/>
    <a:srgbClr val="E646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96" y="1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viewProps" Target="viewProp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ABDC4E67-8CB2-26CB-9842-22F9A691D93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E31EB5F-53B0-CDA3-72A4-3FA9BE40D0E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440670-43D7-400A-ABC5-B69E064DBB37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0EB1E06-E4F0-A1A2-1EFB-AD58FA1AF7A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7061963-6110-4C16-C593-C8C56E4881C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274045-2E90-4839-9E75-1C1FCF04B5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01830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1B03A4-75C9-4E3D-9183-2102CA9AEC33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839206-A81D-4F76-8486-302187992F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0807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0269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85348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273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67267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63083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0342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blac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341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blue">
    <p:bg>
      <p:bgPr>
        <a:solidFill>
          <a:srgbClr val="34629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8615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1666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5659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44C786-AD10-7D88-1933-9D7659D25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7314" y="1852863"/>
            <a:ext cx="7886486" cy="4324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Your bio</a:t>
            </a:r>
            <a:endParaRPr lang="en-GB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1BA7B894-6BCA-2B29-BA04-8AAB1735B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7313" y="324853"/>
            <a:ext cx="788648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Speaker’s name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3374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FF0C1-723F-8331-7203-2AD1CA3085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00EBD9-8D5A-98D4-BC92-CE5E1C7560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723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3D202-8931-7832-6C93-86B82B686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BBC0C-D418-7F75-653D-7BD01A94C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802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93987-4D9C-734A-F0DD-FA7C5E5BF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8C8F2A-06F7-926F-11A3-0E18B5E012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7603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9D26B-2105-B752-1559-A5E7E3580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B2030-5E24-3C76-AF6E-BEABDB29D9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0EF88D-DEBE-FA6D-7C2B-49DE203B99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3025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0F04B-2070-B32A-26F9-689ACEB17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972153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351C8F-389D-6D1D-529E-8F7B5D2561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7AB8FD-3AC0-420A-CD1A-4BB2C4DEB2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E0881B-0B39-A9CB-08B8-7FA6C0D98A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27CCB1-27F7-D503-AC18-183950FAE8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47285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E4D49-1A5A-DFCF-8CA7-93B2889E2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50198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04708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1FA22-F0C4-1510-0E4C-953C802C4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6368D-1D41-F3F9-3D07-85EFF2CFB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83765E-1500-5380-7D29-9BED9AFAFC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641347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19606-9316-A7A0-65BC-635A494F0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637042-5D0D-C650-5659-376D12BF8F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EF090A-47F3-1576-D5A3-105EE33762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74897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3B042-3840-06BB-E1DF-E9094D819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CC1C5E-7112-083E-8A66-4B30A4DD39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73646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ons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4139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sv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image" Target="../media/image5.svg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8.xml"/><Relationship Id="rId16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11.xml"/><Relationship Id="rId15" Type="http://schemas.openxmlformats.org/officeDocument/2006/relationships/image" Target="../media/image7.svg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Relationship Id="rId14" Type="http://schemas.openxmlformats.org/officeDocument/2006/relationships/image" Target="../media/image6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sv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4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13" descr="Une image contenant texte&#10;&#10;Description générée automatiquement">
            <a:extLst>
              <a:ext uri="{FF2B5EF4-FFF2-40B4-BE49-F238E27FC236}">
                <a16:creationId xmlns:a16="http://schemas.microsoft.com/office/drawing/2014/main" id="{46B6AA1A-3151-3AC2-83FB-1C6A4D626CE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E38E8CAF-D224-9556-511F-8D65E9383F2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0591" y="137310"/>
            <a:ext cx="4166241" cy="1426795"/>
          </a:xfrm>
          <a:prstGeom prst="rect">
            <a:avLst/>
          </a:prstGeom>
        </p:spPr>
      </p:pic>
      <p:pic>
        <p:nvPicPr>
          <p:cNvPr id="8" name="Image 7" descr="Une image contenant Police, Graphique, typographie, graphisme&#10;&#10;Le contenu généré par l’IA peut être incorrect.">
            <a:extLst>
              <a:ext uri="{FF2B5EF4-FFF2-40B4-BE49-F238E27FC236}">
                <a16:creationId xmlns:a16="http://schemas.microsoft.com/office/drawing/2014/main" id="{B287398A-20D9-4E87-9997-CB57AB2CCEE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900" y="6074646"/>
            <a:ext cx="2471121" cy="372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929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>
            <a:extLst>
              <a:ext uri="{FF2B5EF4-FFF2-40B4-BE49-F238E27FC236}">
                <a16:creationId xmlns:a16="http://schemas.microsoft.com/office/drawing/2014/main" id="{427B60B6-58D4-7B9F-C29A-CE66AF93F596}"/>
              </a:ext>
            </a:extLst>
          </p:cNvPr>
          <p:cNvSpPr txBox="1">
            <a:spLocks/>
          </p:cNvSpPr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25000">
                <a:latin typeface="Stencil" panose="040409050D0802020404" pitchFamily="82" charset="0"/>
              </a:rPr>
              <a:t> </a:t>
            </a:r>
            <a:endParaRPr lang="en-DE" sz="2500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8877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Une image contenant texte&#10;&#10;Description générée automatiquement">
            <a:extLst>
              <a:ext uri="{FF2B5EF4-FFF2-40B4-BE49-F238E27FC236}">
                <a16:creationId xmlns:a16="http://schemas.microsoft.com/office/drawing/2014/main" id="{E6A8F4F5-7628-E9E8-23A7-09169C6794F7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" y="0"/>
            <a:ext cx="12189631" cy="6858000"/>
          </a:xfrm>
          <a:prstGeom prst="rect">
            <a:avLst/>
          </a:prstGeom>
        </p:spPr>
      </p:pic>
      <p:sp>
        <p:nvSpPr>
          <p:cNvPr id="3" name="Espace réservé du numéro de diapositive 5">
            <a:extLst>
              <a:ext uri="{FF2B5EF4-FFF2-40B4-BE49-F238E27FC236}">
                <a16:creationId xmlns:a16="http://schemas.microsoft.com/office/drawing/2014/main" id="{FC40251A-A850-BFFB-8B10-8DF9490B82FC}"/>
              </a:ext>
            </a:extLst>
          </p:cNvPr>
          <p:cNvSpPr txBox="1">
            <a:spLocks/>
          </p:cNvSpPr>
          <p:nvPr userDrawn="1"/>
        </p:nvSpPr>
        <p:spPr>
          <a:xfrm>
            <a:off x="7001786" y="6335963"/>
            <a:ext cx="305661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 err="1">
                <a:solidFill>
                  <a:srgbClr val="3B2B46"/>
                </a:solidFill>
              </a:rPr>
              <a:t>psfred.bsky.social</a:t>
            </a:r>
            <a:endParaRPr lang="en-GB" b="1" dirty="0">
              <a:solidFill>
                <a:srgbClr val="3B2B46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4BA6D3-5703-2B33-8381-A6B521E4EF59}"/>
              </a:ext>
            </a:extLst>
          </p:cNvPr>
          <p:cNvSpPr/>
          <p:nvPr userDrawn="1"/>
        </p:nvSpPr>
        <p:spPr>
          <a:xfrm>
            <a:off x="6636662" y="6335963"/>
            <a:ext cx="365125" cy="522037"/>
          </a:xfrm>
          <a:prstGeom prst="rect">
            <a:avLst/>
          </a:prstGeom>
          <a:solidFill>
            <a:srgbClr val="3B2A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5940FBC8-A0C6-2B5F-1902-D32A817C999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02387" y="6400644"/>
            <a:ext cx="233674" cy="233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531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GB" sz="5400" b="1" kern="1200" dirty="0">
          <a:solidFill>
            <a:srgbClr val="3B2B4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GB" sz="3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Une image contenant texte&#10;&#10;Description générée automatiquement">
            <a:extLst>
              <a:ext uri="{FF2B5EF4-FFF2-40B4-BE49-F238E27FC236}">
                <a16:creationId xmlns:a16="http://schemas.microsoft.com/office/drawing/2014/main" id="{1B01AB94-EEA2-3211-2551-34A16625A10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" y="0"/>
            <a:ext cx="12189631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57010D-0C09-8FBA-F719-A4ED7C3FC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73328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C054D6-CB61-3142-2199-DDEA2FD483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6122872C-58E4-4D8E-43AD-82C6D51A6C2A}"/>
              </a:ext>
            </a:extLst>
          </p:cNvPr>
          <p:cNvSpPr txBox="1">
            <a:spLocks/>
          </p:cNvSpPr>
          <p:nvPr userDrawn="1"/>
        </p:nvSpPr>
        <p:spPr>
          <a:xfrm>
            <a:off x="7001786" y="6335963"/>
            <a:ext cx="305661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 err="1">
                <a:solidFill>
                  <a:srgbClr val="3B2B46"/>
                </a:solidFill>
              </a:rPr>
              <a:t>psfred.bsky.social</a:t>
            </a:r>
            <a:endParaRPr lang="en-GB" b="1" dirty="0">
              <a:solidFill>
                <a:srgbClr val="3B2B46"/>
              </a:solidFill>
            </a:endParaRP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59BD5C5E-FB1B-A32E-1927-AB6A3C9A666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822738" y="196674"/>
            <a:ext cx="1062038" cy="904875"/>
          </a:xfrm>
          <a:prstGeom prst="rect">
            <a:avLst/>
          </a:prstGeom>
        </p:spPr>
      </p:pic>
      <p:pic>
        <p:nvPicPr>
          <p:cNvPr id="12" name="Image 11" descr="Une image contenant Police, Graphique, capture d’écran, graphisme&#10;&#10;Le contenu généré par l’IA peut être incorrect.">
            <a:extLst>
              <a:ext uri="{FF2B5EF4-FFF2-40B4-BE49-F238E27FC236}">
                <a16:creationId xmlns:a16="http://schemas.microsoft.com/office/drawing/2014/main" id="{9DA822DC-EA6F-C834-636F-0CFA0983C12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9716" y="1147469"/>
            <a:ext cx="1169451" cy="376843"/>
          </a:xfrm>
          <a:prstGeom prst="rect">
            <a:avLst/>
          </a:prstGeom>
        </p:spPr>
      </p:pic>
      <p:pic>
        <p:nvPicPr>
          <p:cNvPr id="15" name="Graphique 14">
            <a:extLst>
              <a:ext uri="{FF2B5EF4-FFF2-40B4-BE49-F238E27FC236}">
                <a16:creationId xmlns:a16="http://schemas.microsoft.com/office/drawing/2014/main" id="{E16A90F8-D789-E1FC-28F1-B2BFBC4CCE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636662" y="6335963"/>
            <a:ext cx="365125" cy="36512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426EC41D-2CB6-0B12-C26A-46F016046178}"/>
              </a:ext>
            </a:extLst>
          </p:cNvPr>
          <p:cNvSpPr/>
          <p:nvPr userDrawn="1"/>
        </p:nvSpPr>
        <p:spPr>
          <a:xfrm>
            <a:off x="6636662" y="6335963"/>
            <a:ext cx="365125" cy="522037"/>
          </a:xfrm>
          <a:prstGeom prst="rect">
            <a:avLst/>
          </a:prstGeom>
          <a:solidFill>
            <a:srgbClr val="3B2A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4" name="Graphique 23">
            <a:extLst>
              <a:ext uri="{FF2B5EF4-FFF2-40B4-BE49-F238E27FC236}">
                <a16:creationId xmlns:a16="http://schemas.microsoft.com/office/drawing/2014/main" id="{14057C36-7CA7-EB30-FD33-9F60CDAC502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702387" y="6400644"/>
            <a:ext cx="233674" cy="233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699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1" kern="1200">
          <a:solidFill>
            <a:srgbClr val="3B2B4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3200" kern="1200">
          <a:solidFill>
            <a:srgbClr val="346297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 descr="Une image contenant texte&#10;&#10;Description générée automatiquement">
            <a:extLst>
              <a:ext uri="{FF2B5EF4-FFF2-40B4-BE49-F238E27FC236}">
                <a16:creationId xmlns:a16="http://schemas.microsoft.com/office/drawing/2014/main" id="{B539B2B7-DCEC-86A0-9166-A544EB5C8800}"/>
              </a:ext>
            </a:extLst>
          </p:cNvPr>
          <p:cNvPicPr/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" y="0"/>
            <a:ext cx="12189631" cy="6858000"/>
          </a:xfrm>
          <a:prstGeom prst="rect">
            <a:avLst/>
          </a:prstGeom>
        </p:spPr>
      </p:pic>
      <p:sp>
        <p:nvSpPr>
          <p:cNvPr id="12" name="Espace réservé du numéro de diapositive 5">
            <a:extLst>
              <a:ext uri="{FF2B5EF4-FFF2-40B4-BE49-F238E27FC236}">
                <a16:creationId xmlns:a16="http://schemas.microsoft.com/office/drawing/2014/main" id="{56F63CA6-9F60-3CB8-9C61-E52CC24CA5C9}"/>
              </a:ext>
            </a:extLst>
          </p:cNvPr>
          <p:cNvSpPr txBox="1">
            <a:spLocks/>
          </p:cNvSpPr>
          <p:nvPr userDrawn="1"/>
        </p:nvSpPr>
        <p:spPr>
          <a:xfrm>
            <a:off x="7001786" y="6335963"/>
            <a:ext cx="305661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 err="1">
                <a:solidFill>
                  <a:srgbClr val="3B2B46"/>
                </a:solidFill>
              </a:rPr>
              <a:t>psfred.bsky.social</a:t>
            </a:r>
            <a:endParaRPr lang="en-GB" b="1" dirty="0">
              <a:solidFill>
                <a:srgbClr val="3B2B46"/>
              </a:solidFill>
            </a:endParaRPr>
          </a:p>
        </p:txBody>
      </p:sp>
      <p:pic>
        <p:nvPicPr>
          <p:cNvPr id="13" name="Graphique 12">
            <a:extLst>
              <a:ext uri="{FF2B5EF4-FFF2-40B4-BE49-F238E27FC236}">
                <a16:creationId xmlns:a16="http://schemas.microsoft.com/office/drawing/2014/main" id="{7C52C906-A4AE-205B-5674-D5FB2A7DD51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22738" y="196674"/>
            <a:ext cx="1062038" cy="904875"/>
          </a:xfrm>
          <a:prstGeom prst="rect">
            <a:avLst/>
          </a:prstGeom>
        </p:spPr>
      </p:pic>
      <p:pic>
        <p:nvPicPr>
          <p:cNvPr id="14" name="Image 13" descr="Une image contenant Police, Graphique, capture d’écran, graphisme&#10;&#10;Le contenu généré par l’IA peut être incorrect.">
            <a:extLst>
              <a:ext uri="{FF2B5EF4-FFF2-40B4-BE49-F238E27FC236}">
                <a16:creationId xmlns:a16="http://schemas.microsoft.com/office/drawing/2014/main" id="{7F616F34-F51B-32CC-AB9F-19EDB8E1D14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9716" y="1147469"/>
            <a:ext cx="1169451" cy="376843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798964E-22C6-D00E-7DF6-09D18BCDA750}"/>
              </a:ext>
            </a:extLst>
          </p:cNvPr>
          <p:cNvSpPr/>
          <p:nvPr userDrawn="1"/>
        </p:nvSpPr>
        <p:spPr>
          <a:xfrm>
            <a:off x="6636662" y="6335963"/>
            <a:ext cx="365125" cy="522037"/>
          </a:xfrm>
          <a:prstGeom prst="rect">
            <a:avLst/>
          </a:prstGeom>
          <a:solidFill>
            <a:srgbClr val="3B2A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6" name="Graphique 15">
            <a:extLst>
              <a:ext uri="{FF2B5EF4-FFF2-40B4-BE49-F238E27FC236}">
                <a16:creationId xmlns:a16="http://schemas.microsoft.com/office/drawing/2014/main" id="{D949B0BA-A067-A37C-BE40-5E322BCE3B0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02387" y="6400644"/>
            <a:ext cx="233674" cy="233674"/>
          </a:xfrm>
          <a:prstGeom prst="rect">
            <a:avLst/>
          </a:prstGeom>
        </p:spPr>
      </p:pic>
      <p:sp>
        <p:nvSpPr>
          <p:cNvPr id="9" name="Titel 3">
            <a:extLst>
              <a:ext uri="{FF2B5EF4-FFF2-40B4-BE49-F238E27FC236}">
                <a16:creationId xmlns:a16="http://schemas.microsoft.com/office/drawing/2014/main" id="{237F1B22-B8A7-5DA3-541B-86D5A5CE30B8}"/>
              </a:ext>
            </a:extLst>
          </p:cNvPr>
          <p:cNvSpPr txBox="1">
            <a:spLocks/>
          </p:cNvSpPr>
          <p:nvPr userDrawn="1"/>
        </p:nvSpPr>
        <p:spPr>
          <a:xfrm>
            <a:off x="1009061" y="630961"/>
            <a:ext cx="973328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b="1">
                <a:solidFill>
                  <a:srgbClr val="3B2A47"/>
                </a:solidFill>
                <a:latin typeface="Calibri" panose="020F0502020204030204" pitchFamily="34" charset="0"/>
                <a:ea typeface="+mn-ea"/>
                <a:cs typeface="+mn-cs"/>
              </a:rPr>
              <a:t>Many thanks to our sponsors:</a:t>
            </a:r>
            <a:endParaRPr lang="en-DE">
              <a:solidFill>
                <a:srgbClr val="3B2A47"/>
              </a:solidFill>
            </a:endParaRPr>
          </a:p>
        </p:txBody>
      </p:sp>
      <p:pic>
        <p:nvPicPr>
          <p:cNvPr id="10" name="Graphique 9">
            <a:extLst>
              <a:ext uri="{FF2B5EF4-FFF2-40B4-BE49-F238E27FC236}">
                <a16:creationId xmlns:a16="http://schemas.microsoft.com/office/drawing/2014/main" id="{49202E10-CFF9-D099-F6A8-38778470501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42212" y="2226290"/>
            <a:ext cx="8666977" cy="2650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580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psframework.org/" TargetMode="Externa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512BD2B3-5213-AE89-B245-3E2067844782}"/>
              </a:ext>
            </a:extLst>
          </p:cNvPr>
          <p:cNvSpPr txBox="1">
            <a:spLocks/>
          </p:cNvSpPr>
          <p:nvPr/>
        </p:nvSpPr>
        <p:spPr>
          <a:xfrm>
            <a:off x="1524000" y="4271395"/>
            <a:ext cx="9144000" cy="631759"/>
          </a:xfrm>
          <a:prstGeom prst="rect">
            <a:avLst/>
          </a:prstGeom>
        </p:spPr>
        <p:txBody>
          <a:bodyPr lIns="91440" tIns="45720" rIns="91440" bIns="45720" anchor="t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kern="1200">
                <a:solidFill>
                  <a:srgbClr val="3B2B46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i="1" dirty="0">
                <a:latin typeface="Segoe UI"/>
                <a:cs typeface="Segoe UI"/>
              </a:rPr>
              <a:t>Friedrich “Fred” Weinmann</a:t>
            </a:r>
            <a:endParaRPr lang="en-US" dirty="0"/>
          </a:p>
        </p:txBody>
      </p:sp>
      <p:cxnSp>
        <p:nvCxnSpPr>
          <p:cNvPr id="4" name="Connecteur droit 5">
            <a:extLst>
              <a:ext uri="{FF2B5EF4-FFF2-40B4-BE49-F238E27FC236}">
                <a16:creationId xmlns:a16="http://schemas.microsoft.com/office/drawing/2014/main" id="{E9631884-5100-1BA8-2365-47609B2977D7}"/>
              </a:ext>
            </a:extLst>
          </p:cNvPr>
          <p:cNvCxnSpPr/>
          <p:nvPr/>
        </p:nvCxnSpPr>
        <p:spPr>
          <a:xfrm>
            <a:off x="3867150" y="4089400"/>
            <a:ext cx="4508500" cy="0"/>
          </a:xfrm>
          <a:prstGeom prst="line">
            <a:avLst/>
          </a:prstGeom>
          <a:ln>
            <a:solidFill>
              <a:srgbClr val="3B2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el 4">
            <a:extLst>
              <a:ext uri="{FF2B5EF4-FFF2-40B4-BE49-F238E27FC236}">
                <a16:creationId xmlns:a16="http://schemas.microsoft.com/office/drawing/2014/main" id="{EC34FE26-AFCF-2A09-DB2E-84FFA4D454A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63600" y="2672840"/>
            <a:ext cx="10515600" cy="1325563"/>
          </a:xfrm>
          <a:prstGeom prst="rect">
            <a:avLst/>
          </a:prstGeom>
        </p:spPr>
        <p:txBody>
          <a:bodyPr anchor="b" anchorCtr="0"/>
          <a:lstStyle/>
          <a:p>
            <a:pPr algn="ctr"/>
            <a:r>
              <a:rPr lang="en-DE" sz="6000" b="1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N</a:t>
            </a:r>
            <a:r>
              <a:rPr lang="en-US" sz="6000" b="1" err="1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ext</a:t>
            </a:r>
            <a:r>
              <a:rPr lang="en-US" sz="6000" b="1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Up:</a:t>
            </a:r>
            <a:endParaRPr lang="en-DE" sz="6000" b="1">
              <a:solidFill>
                <a:srgbClr val="346296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5886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1">
            <a:extLst>
              <a:ext uri="{FF2B5EF4-FFF2-40B4-BE49-F238E27FC236}">
                <a16:creationId xmlns:a16="http://schemas.microsoft.com/office/drawing/2014/main" id="{82643D59-896E-68AE-5BCA-3F8558F198EF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973328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/>
              <a:t>3</a:t>
            </a:r>
            <a:endParaRPr lang="en-GB"/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72D13131-79CF-8701-656B-BEFF0267805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 anchorCtr="0"/>
          <a:lstStyle/>
          <a:p>
            <a:pPr algn="ctr"/>
            <a:r>
              <a:rPr lang="en-US" sz="25000">
                <a:solidFill>
                  <a:schemeClr val="bg1"/>
                </a:solidFill>
                <a:latin typeface="Stencil" panose="040409050D0802020404" pitchFamily="82" charset="0"/>
              </a:rPr>
              <a:t>3</a:t>
            </a:r>
            <a:endParaRPr lang="en-DE" sz="25000">
              <a:solidFill>
                <a:schemeClr val="bg1"/>
              </a:solidFill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0004164"/>
      </p:ext>
    </p:extLst>
  </p:cSld>
  <p:clrMapOvr>
    <a:masterClrMapping/>
  </p:clrMapOvr>
  <p:transition spd="slow" advTm="1000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0">
            <a:extLst>
              <a:ext uri="{FF2B5EF4-FFF2-40B4-BE49-F238E27FC236}">
                <a16:creationId xmlns:a16="http://schemas.microsoft.com/office/drawing/2014/main" id="{72D13131-79CF-8701-656B-BEFF0267805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 anchorCtr="0"/>
          <a:lstStyle/>
          <a:p>
            <a:pPr algn="ctr"/>
            <a:r>
              <a:rPr lang="en-US" sz="25000">
                <a:solidFill>
                  <a:schemeClr val="bg1"/>
                </a:solidFill>
                <a:latin typeface="Stencil" panose="040409050D0802020404" pitchFamily="82" charset="0"/>
              </a:rPr>
              <a:t>2</a:t>
            </a:r>
            <a:endParaRPr lang="en-DE" sz="25000">
              <a:solidFill>
                <a:schemeClr val="bg1"/>
              </a:solidFill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6012733"/>
      </p:ext>
    </p:extLst>
  </p:cSld>
  <p:clrMapOvr>
    <a:masterClrMapping/>
  </p:clrMapOvr>
  <p:transition spd="slow" advTm="1000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0">
            <a:extLst>
              <a:ext uri="{FF2B5EF4-FFF2-40B4-BE49-F238E27FC236}">
                <a16:creationId xmlns:a16="http://schemas.microsoft.com/office/drawing/2014/main" id="{72D13131-79CF-8701-656B-BEFF0267805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 anchorCtr="0"/>
          <a:lstStyle/>
          <a:p>
            <a:pPr algn="ctr"/>
            <a:r>
              <a:rPr lang="en-US" sz="25000">
                <a:latin typeface="Stencil" panose="040409050D0802020404" pitchFamily="82" charset="0"/>
              </a:rPr>
              <a:t>1</a:t>
            </a:r>
            <a:endParaRPr lang="en-DE" sz="2500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231530"/>
      </p:ext>
    </p:extLst>
  </p:cSld>
  <p:clrMapOvr>
    <a:masterClrMapping/>
  </p:clrMapOvr>
  <p:transition spd="slow" advTm="1000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FB22B504-146E-1966-17CE-BB797BC6083D}"/>
              </a:ext>
            </a:extLst>
          </p:cNvPr>
          <p:cNvSpPr txBox="1">
            <a:spLocks/>
          </p:cNvSpPr>
          <p:nvPr/>
        </p:nvSpPr>
        <p:spPr>
          <a:xfrm>
            <a:off x="1524000" y="4271395"/>
            <a:ext cx="9144000" cy="631759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kern="1200">
                <a:solidFill>
                  <a:srgbClr val="3B2B46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i="1" dirty="0"/>
              <a:t>Fred</a:t>
            </a:r>
            <a:endParaRPr lang="en-GB" b="1" i="1" dirty="0"/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A169C0FB-08C4-E3EC-573C-91852880EBAA}"/>
              </a:ext>
            </a:extLst>
          </p:cNvPr>
          <p:cNvCxnSpPr/>
          <p:nvPr/>
        </p:nvCxnSpPr>
        <p:spPr>
          <a:xfrm>
            <a:off x="3867150" y="4089400"/>
            <a:ext cx="4508500" cy="0"/>
          </a:xfrm>
          <a:prstGeom prst="line">
            <a:avLst/>
          </a:prstGeom>
          <a:ln>
            <a:solidFill>
              <a:srgbClr val="3B2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el 3">
            <a:extLst>
              <a:ext uri="{FF2B5EF4-FFF2-40B4-BE49-F238E27FC236}">
                <a16:creationId xmlns:a16="http://schemas.microsoft.com/office/drawing/2014/main" id="{0E2348EB-2258-5792-670F-322202E630B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2666707"/>
            <a:ext cx="10515600" cy="1325563"/>
          </a:xfrm>
          <a:prstGeom prst="rect">
            <a:avLst/>
          </a:prstGeom>
        </p:spPr>
        <p:txBody>
          <a:bodyPr anchor="b" anchorCtr="0"/>
          <a:lstStyle/>
          <a:p>
            <a:pPr algn="ctr"/>
            <a:r>
              <a:rPr lang="en-US" sz="6000" b="1" dirty="0">
                <a:solidFill>
                  <a:srgbClr val="346296"/>
                </a:solidFill>
                <a:latin typeface="+mn-lt"/>
              </a:rPr>
              <a:t>Caching</a:t>
            </a:r>
            <a:br>
              <a:rPr lang="en-US" sz="6000" b="1" dirty="0">
                <a:solidFill>
                  <a:srgbClr val="346296"/>
                </a:solidFill>
                <a:latin typeface="+mn-lt"/>
              </a:rPr>
            </a:br>
            <a:r>
              <a:rPr lang="en-US" sz="4000" b="1" dirty="0">
                <a:solidFill>
                  <a:srgbClr val="346296"/>
                </a:solidFill>
                <a:latin typeface="+mn-lt"/>
              </a:rPr>
              <a:t>Accelerate your code and Murder your Memory</a:t>
            </a:r>
            <a:endParaRPr lang="en-DE" sz="6000" b="1" dirty="0">
              <a:solidFill>
                <a:srgbClr val="346296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938168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1180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6BD1782-3351-81CA-FC58-FFB0E0D174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4785142"/>
          </a:xfrm>
        </p:spPr>
        <p:txBody>
          <a:bodyPr anchor="ctr">
            <a:normAutofit/>
          </a:bodyPr>
          <a:lstStyle/>
          <a:p>
            <a:r>
              <a:rPr lang="en-US" dirty="0"/>
              <a:t>"There are only two hard things in Computer Science: cache invalidation, naming things, and off-by-one errors."</a:t>
            </a:r>
          </a:p>
        </p:txBody>
      </p:sp>
    </p:spTree>
    <p:extLst>
      <p:ext uri="{BB962C8B-B14F-4D97-AF65-F5344CB8AC3E}">
        <p14:creationId xmlns:p14="http://schemas.microsoft.com/office/powerpoint/2010/main" val="863611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3757D-833D-9548-494A-1189C2531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Notes on PDD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F83DEA-D719-ADCC-54DA-15C877D98B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Have you heard about </a:t>
            </a:r>
            <a:r>
              <a:rPr lang="en-US" dirty="0" err="1"/>
              <a:t>PSFramework</a:t>
            </a:r>
            <a:r>
              <a:rPr lang="en-US" dirty="0"/>
              <a:t>?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https://PSFramework.org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Install-Module </a:t>
            </a:r>
            <a:r>
              <a:rPr lang="en-US" dirty="0" err="1"/>
              <a:t>PSFramework</a:t>
            </a:r>
            <a:endParaRPr lang="en-US" dirty="0"/>
          </a:p>
          <a:p>
            <a:endParaRPr lang="en-US" dirty="0"/>
          </a:p>
          <a:p>
            <a:r>
              <a:rPr lang="en-US" dirty="0"/>
              <a:t>Install-</a:t>
            </a:r>
            <a:r>
              <a:rPr lang="en-US" dirty="0" err="1"/>
              <a:t>PSResource</a:t>
            </a:r>
            <a:r>
              <a:rPr lang="en-US" dirty="0"/>
              <a:t> </a:t>
            </a:r>
            <a:r>
              <a:rPr lang="en-US" dirty="0" err="1"/>
              <a:t>PSFramework</a:t>
            </a:r>
            <a:endParaRPr lang="en-US" dirty="0"/>
          </a:p>
          <a:p>
            <a:endParaRPr lang="en-US" dirty="0"/>
          </a:p>
          <a:p>
            <a:r>
              <a:rPr lang="en-US" dirty="0"/>
              <a:t>Install-</a:t>
            </a:r>
            <a:r>
              <a:rPr lang="en-US" dirty="0" err="1"/>
              <a:t>PSFModule</a:t>
            </a:r>
            <a:r>
              <a:rPr lang="en-US" dirty="0"/>
              <a:t> </a:t>
            </a:r>
            <a:r>
              <a:rPr lang="en-US" dirty="0" err="1"/>
              <a:t>PSFramework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7182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B167248-C99C-E892-89E1-4CBB81F02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529389"/>
            <a:ext cx="10515600" cy="1004637"/>
          </a:xfrm>
        </p:spPr>
        <p:txBody>
          <a:bodyPr/>
          <a:lstStyle/>
          <a:p>
            <a:r>
              <a:rPr lang="en-GB"/>
              <a:t>Demos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ACAFC7-78CB-98F9-FEF3-D3E8C9FF6E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653758"/>
            <a:ext cx="10515600" cy="1500187"/>
          </a:xfrm>
        </p:spPr>
        <p:txBody>
          <a:bodyPr/>
          <a:lstStyle/>
          <a:p>
            <a:r>
              <a:rPr lang="en-GB"/>
              <a:t>We love Demos!</a:t>
            </a:r>
          </a:p>
        </p:txBody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id="{776AC288-703A-8014-23CA-E040CDD7E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4191" y="615392"/>
            <a:ext cx="6127897" cy="50601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172594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3">
            <a:extLst>
              <a:ext uri="{FF2B5EF4-FFF2-40B4-BE49-F238E27FC236}">
                <a16:creationId xmlns:a16="http://schemas.microsoft.com/office/drawing/2014/main" id="{063F7B61-5334-421F-9456-A905D333F4B3}"/>
              </a:ext>
            </a:extLst>
          </p:cNvPr>
          <p:cNvSpPr txBox="1">
            <a:spLocks/>
          </p:cNvSpPr>
          <p:nvPr/>
        </p:nvSpPr>
        <p:spPr>
          <a:xfrm>
            <a:off x="831850" y="529389"/>
            <a:ext cx="10515600" cy="10046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3B2B4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Q&amp;A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E7911686-C4FE-022C-2490-99F4F5BFDF39}"/>
              </a:ext>
            </a:extLst>
          </p:cNvPr>
          <p:cNvSpPr txBox="1">
            <a:spLocks/>
          </p:cNvSpPr>
          <p:nvPr/>
        </p:nvSpPr>
        <p:spPr>
          <a:xfrm>
            <a:off x="831850" y="1653758"/>
            <a:ext cx="10515600" cy="1500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15 minutes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04697E65-3DA9-6EF3-472C-734FB98C3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1477" y="1770873"/>
            <a:ext cx="6729046" cy="35917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348428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C2B4B-CF61-3DC5-6221-F5F99F86F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3">
            <a:extLst>
              <a:ext uri="{FF2B5EF4-FFF2-40B4-BE49-F238E27FC236}">
                <a16:creationId xmlns:a16="http://schemas.microsoft.com/office/drawing/2014/main" id="{0AFF23A2-578F-B7AD-CC96-F1E75AA0FD82}"/>
              </a:ext>
            </a:extLst>
          </p:cNvPr>
          <p:cNvSpPr txBox="1">
            <a:spLocks/>
          </p:cNvSpPr>
          <p:nvPr/>
        </p:nvSpPr>
        <p:spPr>
          <a:xfrm>
            <a:off x="831850" y="529389"/>
            <a:ext cx="10515600" cy="10046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3B2B4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GIVE ME FEEDBACK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8D9FEC-D0B6-03AA-2C12-1CA5AE4EB596}"/>
              </a:ext>
            </a:extLst>
          </p:cNvPr>
          <p:cNvSpPr/>
          <p:nvPr/>
        </p:nvSpPr>
        <p:spPr>
          <a:xfrm>
            <a:off x="3831771" y="2046514"/>
            <a:ext cx="3868058" cy="3868058"/>
          </a:xfrm>
          <a:prstGeom prst="rect">
            <a:avLst/>
          </a:prstGeom>
          <a:noFill/>
          <a:ln w="38100">
            <a:solidFill>
              <a:srgbClr val="3B2A47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noFill/>
                <a:prstDash val="dash"/>
              </a:ln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CD424B4-E900-F6B6-EAA3-A874A8F70DAC}"/>
              </a:ext>
            </a:extLst>
          </p:cNvPr>
          <p:cNvSpPr txBox="1"/>
          <p:nvPr/>
        </p:nvSpPr>
        <p:spPr>
          <a:xfrm>
            <a:off x="4049486" y="3380378"/>
            <a:ext cx="34616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>
                <a:latin typeface="Acumin Pro Black" panose="020B0904020202020204" pitchFamily="34" charset="0"/>
              </a:rPr>
              <a:t>INSERT YOUR SESSION QRCODE HERE</a:t>
            </a:r>
          </a:p>
        </p:txBody>
      </p:sp>
      <p:pic>
        <p:nvPicPr>
          <p:cNvPr id="2" name="Graphique 5">
            <a:extLst>
              <a:ext uri="{FF2B5EF4-FFF2-40B4-BE49-F238E27FC236}">
                <a16:creationId xmlns:a16="http://schemas.microsoft.com/office/drawing/2014/main" id="{8C7569A3-761E-DEAA-1C30-F448FEB741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63433" y="1514958"/>
            <a:ext cx="1679652" cy="18654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D388C99-78DD-B120-DDEC-296167B2CA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3666" y="1858878"/>
            <a:ext cx="4205037" cy="4205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274605"/>
      </p:ext>
    </p:extLst>
  </p:cSld>
  <p:clrMapOvr>
    <a:masterClrMapping/>
  </p:clrMapOvr>
</p:sld>
</file>

<file path=ppt/theme/theme1.xml><?xml version="1.0" encoding="utf-8"?>
<a:theme xmlns:a="http://schemas.openxmlformats.org/drawingml/2006/main" name="Tit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lank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Speaker's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Content">
  <a:themeElements>
    <a:clrScheme name="PSConfEU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26198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0563C1"/>
      </a:folHlink>
    </a:clrScheme>
    <a:fontScheme name="PSConfEU202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Sponsor slid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3502FDC476714EB47BD1BE2BFD7B3D" ma:contentTypeVersion="13" ma:contentTypeDescription="Create a new document." ma:contentTypeScope="" ma:versionID="0d4fb5ca5076182280cb93c7d6bdff79">
  <xsd:schema xmlns:xsd="http://www.w3.org/2001/XMLSchema" xmlns:xs="http://www.w3.org/2001/XMLSchema" xmlns:p="http://schemas.microsoft.com/office/2006/metadata/properties" xmlns:ns2="abdc9a1f-962e-4235-838d-61f9c438f4db" xmlns:ns3="de47e97d-64fd-4aef-b10e-fd7d6cfcfcf4" targetNamespace="http://schemas.microsoft.com/office/2006/metadata/properties" ma:root="true" ma:fieldsID="da14a0effa8c0f0120811d0692d695e7" ns2:_="" ns3:_="">
    <xsd:import namespace="abdc9a1f-962e-4235-838d-61f9c438f4db"/>
    <xsd:import namespace="de47e97d-64fd-4aef-b10e-fd7d6cfcfcf4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dc9a1f-962e-4235-838d-61f9c438f4db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bd613703-4b30-4a23-b3bf-9e58a81c4af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47e97d-64fd-4aef-b10e-fd7d6cfcfcf4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2f96598e-1e7b-44ab-a102-458ae76ccdba}" ma:internalName="TaxCatchAll" ma:showField="CatchAllData" ma:web="de47e97d-64fd-4aef-b10e-fd7d6cfcfcf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bdc9a1f-962e-4235-838d-61f9c438f4db">
      <Terms xmlns="http://schemas.microsoft.com/office/infopath/2007/PartnerControls"/>
    </lcf76f155ced4ddcb4097134ff3c332f>
    <TaxCatchAll xmlns="de47e97d-64fd-4aef-b10e-fd7d6cfcfcf4" xsi:nil="true"/>
  </documentManagement>
</p:properties>
</file>

<file path=customXml/itemProps1.xml><?xml version="1.0" encoding="utf-8"?>
<ds:datastoreItem xmlns:ds="http://schemas.openxmlformats.org/officeDocument/2006/customXml" ds:itemID="{57D9B22B-F436-4FE5-B6C0-65AB2260F59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C38D965-436F-4DCC-97AA-50BEF4F7BE29}">
  <ds:schemaRefs>
    <ds:schemaRef ds:uri="abdc9a1f-962e-4235-838d-61f9c438f4db"/>
    <ds:schemaRef ds:uri="de47e97d-64fd-4aef-b10e-fd7d6cfcfcf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AA9C06E3-346E-408E-B352-32E922A070CE}">
  <ds:schemaRefs>
    <ds:schemaRef ds:uri="2347cc20-e10c-452d-848a-c18e83138525"/>
    <ds:schemaRef ds:uri="58c243a5-121d-4837-b81c-114e1b569ece"/>
    <ds:schemaRef ds:uri="77f18391-c91f-4725-9130-63caf76c1806"/>
    <ds:schemaRef ds:uri="85c0ce47-fe9c-4809-bf88-519c39a738e6"/>
    <ds:schemaRef ds:uri="abdc9a1f-962e-4235-838d-61f9c438f4db"/>
    <ds:schemaRef ds:uri="de47e97d-64fd-4aef-b10e-fd7d6cfcfcf4"/>
    <ds:schemaRef ds:uri="http://schemas.microsoft.com/office/2006/metadata/properties"/>
    <ds:schemaRef ds:uri="http://schemas.microsoft.com/office/infopath/2007/PartnerControl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1074</TotalTime>
  <Words>87</Words>
  <Application>Microsoft Office PowerPoint</Application>
  <PresentationFormat>Widescreen</PresentationFormat>
  <Paragraphs>29</Paragraphs>
  <Slides>11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11</vt:i4>
      </vt:variant>
    </vt:vector>
  </HeadingPairs>
  <TitlesOfParts>
    <vt:vector size="25" baseType="lpstr">
      <vt:lpstr>Acumin Pro Black</vt:lpstr>
      <vt:lpstr>Aptos</vt:lpstr>
      <vt:lpstr>Aptos Display</vt:lpstr>
      <vt:lpstr>Arial</vt:lpstr>
      <vt:lpstr>Calibri</vt:lpstr>
      <vt:lpstr>Segoe UI</vt:lpstr>
      <vt:lpstr>Segoe UI Light</vt:lpstr>
      <vt:lpstr>Stencil</vt:lpstr>
      <vt:lpstr>Wingdings</vt:lpstr>
      <vt:lpstr>Title</vt:lpstr>
      <vt:lpstr>Blank</vt:lpstr>
      <vt:lpstr>Speaker's slide</vt:lpstr>
      <vt:lpstr>Content</vt:lpstr>
      <vt:lpstr>Sponsor slide</vt:lpstr>
      <vt:lpstr>Next Up:</vt:lpstr>
      <vt:lpstr>3</vt:lpstr>
      <vt:lpstr>2</vt:lpstr>
      <vt:lpstr>1</vt:lpstr>
      <vt:lpstr>Caching Accelerate your code and Murder your Memory</vt:lpstr>
      <vt:lpstr>PowerPoint Presentation</vt:lpstr>
      <vt:lpstr>"There are only two hard things in Computer Science: cache invalidation, naming things, and off-by-one errors."</vt:lpstr>
      <vt:lpstr>Notes on PDD</vt:lpstr>
      <vt:lpstr>Demos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Friedrich Weinmann (CSA, POWERSHELL)</cp:lastModifiedBy>
  <cp:revision>18</cp:revision>
  <dcterms:created xsi:type="dcterms:W3CDTF">2024-03-26T13:08:23Z</dcterms:created>
  <dcterms:modified xsi:type="dcterms:W3CDTF">2026-06-04T06:04:15Z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0x010100333502FDC476714EB47BD1BE2BFD7B3D</vt:lpwstr>
  </property>
  <property fmtid="{D5CDD505-2E9C-101B-9397-08002B2CF9AE}" pid="3" name="MediaServiceImageTags">
    <vt:lpwstr/>
  </property>
</Properties>
</file>