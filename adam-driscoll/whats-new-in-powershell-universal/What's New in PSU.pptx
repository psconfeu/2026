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 id="2147483702" r:id="rId8"/>
  </p:sldMasterIdLst>
  <p:notesMasterIdLst>
    <p:notesMasterId r:id="rId20"/>
  </p:notesMasterIdLst>
  <p:handoutMasterIdLst>
    <p:handoutMasterId r:id="rId21"/>
  </p:handoutMasterIdLst>
  <p:sldIdLst>
    <p:sldId id="271" r:id="rId9"/>
    <p:sldId id="272" r:id="rId10"/>
    <p:sldId id="259" r:id="rId11"/>
    <p:sldId id="269" r:id="rId12"/>
    <p:sldId id="270" r:id="rId13"/>
    <p:sldId id="273" r:id="rId14"/>
    <p:sldId id="275" r:id="rId15"/>
    <p:sldId id="263" r:id="rId16"/>
    <p:sldId id="266" r:id="rId17"/>
    <p:sldId id="264"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75"/>
            <p14:sldId id="263"/>
            <p14:sldId id="266"/>
            <p14:sldId id="264"/>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4ED"/>
    <a:srgbClr val="3B2A47"/>
    <a:srgbClr val="3B2B46"/>
    <a:srgbClr val="346297"/>
    <a:srgbClr val="000000"/>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C84E72-A67C-4F19-5016-DB6117AAFECF}" v="21" dt="2026-05-27T08:14:36.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08/06/2026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08/06/2026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10.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168630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1392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sv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7.sv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theme" Target="../theme/theme5.xml"/><Relationship Id="rId1" Type="http://schemas.openxmlformats.org/officeDocument/2006/relationships/slideLayout" Target="../slideLayouts/slideLayout17.xml"/><Relationship Id="rId6" Type="http://schemas.openxmlformats.org/officeDocument/2006/relationships/image" Target="../media/image4.svg"/><Relationship Id="rId5" Type="http://schemas.openxmlformats.org/officeDocument/2006/relationships/image" Target="../media/image6.png"/><Relationship Id="rId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10;&#10;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3" name="Espace réservé du numéro de diapositive 5">
            <a:extLst>
              <a:ext uri="{FF2B5EF4-FFF2-40B4-BE49-F238E27FC236}">
                <a16:creationId xmlns:a16="http://schemas.microsoft.com/office/drawing/2014/main" id="{FC40251A-A850-BFFB-8B10-8DF9490B82FC}"/>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rgbClr val="3B2B46"/>
                </a:solidFill>
              </a:rPr>
              <a:t>@yourfavoritesocmedhandle</a:t>
            </a:r>
          </a:p>
        </p:txBody>
      </p:sp>
      <p:sp>
        <p:nvSpPr>
          <p:cNvPr id="4" name="Rectangle 3">
            <a:extLst>
              <a:ext uri="{FF2B5EF4-FFF2-40B4-BE49-F238E27FC236}">
                <a16:creationId xmlns:a16="http://schemas.microsoft.com/office/drawing/2014/main" id="{BB4BA6D3-5703-2B33-8381-A6B521E4EF59}"/>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que 4">
            <a:extLst>
              <a:ext uri="{FF2B5EF4-FFF2-40B4-BE49-F238E27FC236}">
                <a16:creationId xmlns:a16="http://schemas.microsoft.com/office/drawing/2014/main" id="{5940FBC8-A0C6-2B5F-1902-D32A817C999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702387" y="6400644"/>
            <a:ext cx="233674" cy="233674"/>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B2B46"/>
                </a:solidFill>
              </a:rPr>
              <a:t>@adamrdriscoll.com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12" name="Image 11" descr="Une image contenant Police, Graphique, capture d’écran, graphisme&#10;&#10;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5" name="Graphique 14">
            <a:extLst>
              <a:ext uri="{FF2B5EF4-FFF2-40B4-BE49-F238E27FC236}">
                <a16:creationId xmlns:a16="http://schemas.microsoft.com/office/drawing/2014/main" id="{E16A90F8-D789-E1FC-28F1-B2BFBC4CCE32}"/>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6636662" y="6335963"/>
            <a:ext cx="365125" cy="365125"/>
          </a:xfrm>
          <a:prstGeom prst="rect">
            <a:avLst/>
          </a:prstGeom>
        </p:spPr>
      </p:pic>
      <p:sp>
        <p:nvSpPr>
          <p:cNvPr id="18" name="Rectangle 17">
            <a:extLst>
              <a:ext uri="{FF2B5EF4-FFF2-40B4-BE49-F238E27FC236}">
                <a16:creationId xmlns:a16="http://schemas.microsoft.com/office/drawing/2014/main" id="{426EC41D-2CB6-0B12-C26A-46F016046178}"/>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Bluesky Logo image for Free Download">
            <a:extLst>
              <a:ext uri="{FF2B5EF4-FFF2-40B4-BE49-F238E27FC236}">
                <a16:creationId xmlns:a16="http://schemas.microsoft.com/office/drawing/2014/main" id="{88B2AE6D-0337-1308-64A1-796CD96FF638}"/>
              </a:ext>
            </a:extLst>
          </p:cNvPr>
          <p:cNvPicPr>
            <a:picLocks noChangeAspect="1"/>
          </p:cNvPicPr>
          <p:nvPr userDrawn="1"/>
        </p:nvPicPr>
        <p:blipFill>
          <a:blip r:embed="rId16"/>
          <a:stretch>
            <a:fillRect/>
          </a:stretch>
        </p:blipFill>
        <p:spPr>
          <a:xfrm>
            <a:off x="6558205" y="6265088"/>
            <a:ext cx="522038" cy="522038"/>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Image 10" descr="Une image contenant texte&#10;&#10;Description générée automatiquement">
            <a:extLst>
              <a:ext uri="{FF2B5EF4-FFF2-40B4-BE49-F238E27FC236}">
                <a16:creationId xmlns:a16="http://schemas.microsoft.com/office/drawing/2014/main" id="{B539B2B7-DCEC-86A0-9166-A544EB5C8800}"/>
              </a:ext>
            </a:extLst>
          </p:cNvPr>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12" name="Espace réservé du numéro de diapositive 5">
            <a:extLst>
              <a:ext uri="{FF2B5EF4-FFF2-40B4-BE49-F238E27FC236}">
                <a16:creationId xmlns:a16="http://schemas.microsoft.com/office/drawing/2014/main" id="{56F63CA6-9F60-3CB8-9C61-E52CC24CA5C9}"/>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rgbClr val="3B2B46"/>
                </a:solidFill>
              </a:rPr>
              <a:t>@yourfavoritesocmedhandle</a:t>
            </a:r>
          </a:p>
        </p:txBody>
      </p:sp>
      <p:pic>
        <p:nvPicPr>
          <p:cNvPr id="13" name="Graphique 12">
            <a:extLst>
              <a:ext uri="{FF2B5EF4-FFF2-40B4-BE49-F238E27FC236}">
                <a16:creationId xmlns:a16="http://schemas.microsoft.com/office/drawing/2014/main" id="{7C52C906-A4AE-205B-5674-D5FB2A7DD51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822738" y="196674"/>
            <a:ext cx="1062038" cy="904875"/>
          </a:xfrm>
          <a:prstGeom prst="rect">
            <a:avLst/>
          </a:prstGeom>
        </p:spPr>
      </p:pic>
      <p:pic>
        <p:nvPicPr>
          <p:cNvPr id="14" name="Image 13" descr="Une image contenant Police, Graphique, capture d’écran, graphisme&#10;&#10;Le contenu généré par l’IA peut être incorrect.">
            <a:extLst>
              <a:ext uri="{FF2B5EF4-FFF2-40B4-BE49-F238E27FC236}">
                <a16:creationId xmlns:a16="http://schemas.microsoft.com/office/drawing/2014/main" id="{7F616F34-F51B-32CC-AB9F-19EDB8E1D14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sp>
        <p:nvSpPr>
          <p:cNvPr id="15" name="Rectangle 14">
            <a:extLst>
              <a:ext uri="{FF2B5EF4-FFF2-40B4-BE49-F238E27FC236}">
                <a16:creationId xmlns:a16="http://schemas.microsoft.com/office/drawing/2014/main" id="{A798964E-22C6-D00E-7DF6-09D18BCDA750}"/>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Graphique 15">
            <a:extLst>
              <a:ext uri="{FF2B5EF4-FFF2-40B4-BE49-F238E27FC236}">
                <a16:creationId xmlns:a16="http://schemas.microsoft.com/office/drawing/2014/main" id="{D949B0BA-A067-A37C-BE40-5E322BCE3B0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702387" y="6400644"/>
            <a:ext cx="233674" cy="233674"/>
          </a:xfrm>
          <a:prstGeom prst="rect">
            <a:avLst/>
          </a:prstGeom>
        </p:spPr>
      </p:pic>
      <p:sp>
        <p:nvSpPr>
          <p:cNvPr id="9" name="Titel 3">
            <a:extLst>
              <a:ext uri="{FF2B5EF4-FFF2-40B4-BE49-F238E27FC236}">
                <a16:creationId xmlns:a16="http://schemas.microsoft.com/office/drawing/2014/main" id="{237F1B22-B8A7-5DA3-541B-86D5A5CE30B8}"/>
              </a:ext>
            </a:extLst>
          </p:cNvPr>
          <p:cNvSpPr txBox="1">
            <a:spLocks/>
          </p:cNvSpPr>
          <p:nvPr userDrawn="1"/>
        </p:nvSpPr>
        <p:spPr>
          <a:xfrm>
            <a:off x="1009061" y="630961"/>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b="1">
                <a:solidFill>
                  <a:srgbClr val="3B2A47"/>
                </a:solidFill>
                <a:latin typeface="Calibri" panose="020F0502020204030204" pitchFamily="34" charset="0"/>
                <a:ea typeface="+mn-ea"/>
                <a:cs typeface="+mn-cs"/>
              </a:rPr>
              <a:t>Many thanks to our sponsors:</a:t>
            </a:r>
            <a:endParaRPr lang="en-DE">
              <a:solidFill>
                <a:srgbClr val="3B2A47"/>
              </a:solidFill>
            </a:endParaRPr>
          </a:p>
        </p:txBody>
      </p:sp>
      <p:pic>
        <p:nvPicPr>
          <p:cNvPr id="10" name="Graphique 9">
            <a:extLst>
              <a:ext uri="{FF2B5EF4-FFF2-40B4-BE49-F238E27FC236}">
                <a16:creationId xmlns:a16="http://schemas.microsoft.com/office/drawing/2014/main" id="{49202E10-CFF9-D099-F6A8-38778470501A}"/>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542212" y="2226290"/>
            <a:ext cx="8666977" cy="2650633"/>
          </a:xfrm>
          <a:prstGeom prst="rect">
            <a:avLst/>
          </a:prstGeom>
        </p:spPr>
      </p:pic>
    </p:spTree>
    <p:extLst>
      <p:ext uri="{BB962C8B-B14F-4D97-AF65-F5344CB8AC3E}">
        <p14:creationId xmlns:p14="http://schemas.microsoft.com/office/powerpoint/2010/main" val="3764580357"/>
      </p:ext>
    </p:extLst>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lIns="91440" tIns="45720" rIns="91440" bIns="4572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a:cs typeface="Segoe UI"/>
              </a:rPr>
              <a:t>Adam Driscoll</a:t>
            </a:r>
            <a:endParaRPr lang="en-US" dirty="0"/>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Adam Driscoll</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dirty="0">
                <a:solidFill>
                  <a:srgbClr val="346296"/>
                </a:solidFill>
                <a:latin typeface="+mn-lt"/>
              </a:rPr>
              <a:t>What’s new in PowerShell Universal?</a:t>
            </a:r>
            <a:br>
              <a:rPr lang="en-US" sz="6000" b="1" dirty="0">
                <a:solidFill>
                  <a:srgbClr val="346296"/>
                </a:solidFill>
                <a:latin typeface="+mn-lt"/>
              </a:rPr>
            </a:br>
            <a:r>
              <a:rPr lang="en-US" sz="3200" b="1" dirty="0">
                <a:solidFill>
                  <a:srgbClr val="346296"/>
                </a:solidFill>
                <a:latin typeface="+mn-lt"/>
              </a:rPr>
              <a:t>2026 Edition</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180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normAutofit fontScale="90000"/>
          </a:bodyPr>
          <a:lstStyle/>
          <a:p>
            <a:r>
              <a:rPr lang="en-GB" dirty="0"/>
              <a:t>What’s new since </a:t>
            </a:r>
            <a:r>
              <a:rPr lang="en-GB" dirty="0" err="1"/>
              <a:t>PSConfEU</a:t>
            </a:r>
            <a:r>
              <a:rPr lang="en-GB" dirty="0"/>
              <a:t> 2025?</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idx="1"/>
          </p:nvPr>
        </p:nvSpPr>
        <p:spPr/>
        <p:txBody>
          <a:bodyPr>
            <a:normAutofit lnSpcReduction="10000"/>
          </a:bodyPr>
          <a:lstStyle/>
          <a:p>
            <a:r>
              <a:rPr lang="en-GB" dirty="0"/>
              <a:t>PowerShell Universal joins Devolutions!</a:t>
            </a:r>
          </a:p>
          <a:p>
            <a:pPr lvl="1"/>
            <a:r>
              <a:rPr lang="en-GB" dirty="0"/>
              <a:t>New support and product feedback forum</a:t>
            </a:r>
          </a:p>
          <a:p>
            <a:pPr lvl="1"/>
            <a:r>
              <a:rPr lang="en-GB" dirty="0"/>
              <a:t>New landing and download page</a:t>
            </a:r>
          </a:p>
          <a:p>
            <a:pPr lvl="1"/>
            <a:r>
              <a:rPr lang="en-GB" dirty="0"/>
              <a:t>New docker image and (soon) VS Code extension</a:t>
            </a:r>
          </a:p>
          <a:p>
            <a:pPr lvl="1"/>
            <a:r>
              <a:rPr lang="en-GB" dirty="0"/>
              <a:t>Developer, QA, security, marketing, etc onboarding</a:t>
            </a:r>
          </a:p>
          <a:p>
            <a:r>
              <a:rPr lang="en-GB" dirty="0"/>
              <a:t>PowerShell Universal 2026.1</a:t>
            </a:r>
          </a:p>
          <a:p>
            <a:pPr lvl="1"/>
            <a:r>
              <a:rPr lang="en-GB" dirty="0"/>
              <a:t>Developer Edition</a:t>
            </a:r>
          </a:p>
          <a:p>
            <a:pPr lvl="1"/>
            <a:r>
              <a:rPr lang="en-GB" dirty="0"/>
              <a:t>Focus on Devolutions integration, tech debt, security and quality</a:t>
            </a:r>
          </a:p>
          <a:p>
            <a:pPr lvl="1"/>
            <a:endParaRPr lang="en-GB" dirty="0"/>
          </a:p>
          <a:p>
            <a:endParaRPr lang="en-GB" dirty="0"/>
          </a:p>
        </p:txBody>
      </p:sp>
    </p:spTree>
    <p:extLst>
      <p:ext uri="{BB962C8B-B14F-4D97-AF65-F5344CB8AC3E}">
        <p14:creationId xmlns:p14="http://schemas.microsoft.com/office/powerpoint/2010/main" val="3422363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dirty="0"/>
              <a:t>What’s new in PSU 2026.2?</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normAutofit fontScale="77500" lnSpcReduction="20000"/>
          </a:bodyPr>
          <a:lstStyle/>
          <a:p>
            <a:r>
              <a:rPr lang="en-GB" dirty="0"/>
              <a:t>AI Agents and Tools</a:t>
            </a:r>
          </a:p>
          <a:p>
            <a:pPr lvl="1"/>
            <a:r>
              <a:rPr lang="en-GB" dirty="0"/>
              <a:t>PS Scripts as AI and MCP Tools</a:t>
            </a:r>
          </a:p>
          <a:p>
            <a:pPr lvl="1"/>
            <a:r>
              <a:rPr lang="en-GB" dirty="0"/>
              <a:t>Open AI, Anthropic and Local LLM support for prompts</a:t>
            </a:r>
          </a:p>
          <a:p>
            <a:pPr lvl="1"/>
            <a:r>
              <a:rPr lang="en-GB" dirty="0"/>
              <a:t>RBAC for tools and prompts</a:t>
            </a:r>
          </a:p>
          <a:p>
            <a:r>
              <a:rPr lang="en-GB" dirty="0"/>
              <a:t>Visual Studio Code Extension</a:t>
            </a:r>
          </a:p>
          <a:p>
            <a:pPr lvl="1"/>
            <a:r>
              <a:rPr lang="en-GB" dirty="0"/>
              <a:t>Fully rebuilt extension</a:t>
            </a:r>
          </a:p>
          <a:p>
            <a:pPr lvl="1"/>
            <a:r>
              <a:rPr lang="en-GB" dirty="0"/>
              <a:t>Virtual File System support for remote editing</a:t>
            </a:r>
          </a:p>
          <a:p>
            <a:pPr lvl="1"/>
            <a:r>
              <a:rPr lang="en-GB" dirty="0"/>
              <a:t>Automatic authentication with Developer instances</a:t>
            </a:r>
          </a:p>
          <a:p>
            <a:pPr lvl="1"/>
            <a:r>
              <a:rPr lang="en-GB" dirty="0"/>
              <a:t>Automatic MCP server discovery</a:t>
            </a:r>
          </a:p>
          <a:p>
            <a:r>
              <a:rPr lang="en-GB" dirty="0"/>
              <a:t>Workflow Engine</a:t>
            </a:r>
          </a:p>
          <a:p>
            <a:pPr lvl="1"/>
            <a:r>
              <a:rPr lang="en-GB" dirty="0"/>
              <a:t>AI Prompt and script activities</a:t>
            </a:r>
          </a:p>
          <a:p>
            <a:pPr lvl="1"/>
            <a:r>
              <a:rPr lang="en-GB" dirty="0"/>
              <a:t>Workflow designer and cmdlets</a:t>
            </a:r>
          </a:p>
        </p:txBody>
      </p:sp>
    </p:spTree>
    <p:extLst>
      <p:ext uri="{BB962C8B-B14F-4D97-AF65-F5344CB8AC3E}">
        <p14:creationId xmlns:p14="http://schemas.microsoft.com/office/powerpoint/2010/main" val="2961006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GIVE ME FEEDBACK</a:t>
            </a:r>
          </a:p>
        </p:txBody>
      </p:sp>
      <p:sp>
        <p:nvSpPr>
          <p:cNvPr id="4" name="Rectangle 3">
            <a:extLst>
              <a:ext uri="{FF2B5EF4-FFF2-40B4-BE49-F238E27FC236}">
                <a16:creationId xmlns:a16="http://schemas.microsoft.com/office/drawing/2014/main" id="{C98D9FEC-D0B6-03AA-2C12-1CA5AE4EB596}"/>
              </a:ext>
            </a:extLst>
          </p:cNvPr>
          <p:cNvSpPr/>
          <p:nvPr/>
        </p:nvSpPr>
        <p:spPr>
          <a:xfrm>
            <a:off x="3831771" y="2046514"/>
            <a:ext cx="3868058" cy="3868058"/>
          </a:xfrm>
          <a:prstGeom prst="rect">
            <a:avLst/>
          </a:prstGeom>
          <a:noFill/>
          <a:ln w="38100">
            <a:solidFill>
              <a:srgbClr val="3B2A4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prstDash val="dash"/>
              </a:ln>
            </a:endParaRPr>
          </a:p>
        </p:txBody>
      </p:sp>
      <p:sp>
        <p:nvSpPr>
          <p:cNvPr id="5" name="ZoneTexte 4">
            <a:extLst>
              <a:ext uri="{FF2B5EF4-FFF2-40B4-BE49-F238E27FC236}">
                <a16:creationId xmlns:a16="http://schemas.microsoft.com/office/drawing/2014/main" id="{2CD424B4-E900-F6B6-EAA3-A874A8F70DAC}"/>
              </a:ext>
            </a:extLst>
          </p:cNvPr>
          <p:cNvSpPr txBox="1"/>
          <p:nvPr/>
        </p:nvSpPr>
        <p:spPr>
          <a:xfrm>
            <a:off x="4049486" y="3380378"/>
            <a:ext cx="3461657" cy="1200329"/>
          </a:xfrm>
          <a:prstGeom prst="rect">
            <a:avLst/>
          </a:prstGeom>
          <a:noFill/>
        </p:spPr>
        <p:txBody>
          <a:bodyPr wrap="square" rtlCol="0">
            <a:spAutoFit/>
          </a:bodyPr>
          <a:lstStyle/>
          <a:p>
            <a:pPr algn="ctr"/>
            <a:r>
              <a:rPr lang="en-GB" sz="2400" b="1">
                <a:latin typeface="Acumin Pro Black" panose="020B0904020202020204" pitchFamily="34" charset="0"/>
              </a:rPr>
              <a:t>INSERT YOUR SESSION QRCODE HERE</a:t>
            </a:r>
          </a:p>
        </p:txBody>
      </p:sp>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3433" y="1514958"/>
            <a:ext cx="1679652" cy="1865420"/>
          </a:xfrm>
          <a:prstGeom prst="rect">
            <a:avLst/>
          </a:prstGeom>
        </p:spPr>
      </p:pic>
      <p:pic>
        <p:nvPicPr>
          <p:cNvPr id="8" name="Picture 7">
            <a:extLst>
              <a:ext uri="{FF2B5EF4-FFF2-40B4-BE49-F238E27FC236}">
                <a16:creationId xmlns:a16="http://schemas.microsoft.com/office/drawing/2014/main" id="{80BF63E8-17CE-FE76-18FD-231E38241C06}"/>
              </a:ext>
            </a:extLst>
          </p:cNvPr>
          <p:cNvPicPr>
            <a:picLocks noChangeAspect="1"/>
          </p:cNvPicPr>
          <p:nvPr/>
        </p:nvPicPr>
        <p:blipFill>
          <a:blip r:embed="rId4"/>
          <a:stretch>
            <a:fillRect/>
          </a:stretch>
        </p:blipFill>
        <p:spPr>
          <a:xfrm>
            <a:off x="3757415" y="1705778"/>
            <a:ext cx="4338405" cy="4338405"/>
          </a:xfrm>
          <a:prstGeom prst="rect">
            <a:avLst/>
          </a:prstGeom>
        </p:spPr>
      </p:pic>
    </p:spTree>
    <p:extLst>
      <p:ext uri="{BB962C8B-B14F-4D97-AF65-F5344CB8AC3E}">
        <p14:creationId xmlns:p14="http://schemas.microsoft.com/office/powerpoint/2010/main" val="923274605"/>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ponsor sli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Props1.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AA9C06E3-346E-408E-B352-32E922A070CE}">
  <ds:schemaRefs>
    <ds:schemaRef ds:uri="2347cc20-e10c-452d-848a-c18e83138525"/>
    <ds:schemaRef ds:uri="58c243a5-121d-4837-b81c-114e1b569ece"/>
    <ds:schemaRef ds:uri="77f18391-c91f-4725-9130-63caf76c1806"/>
    <ds:schemaRef ds:uri="85c0ce47-fe9c-4809-bf88-519c39a738e6"/>
    <ds:schemaRef ds:uri="abdc9a1f-962e-4235-838d-61f9c438f4db"/>
    <ds:schemaRef ds:uri="de47e97d-64fd-4aef-b10e-fd7d6cfcfcf4"/>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21</TotalTime>
  <Words>896</Words>
  <Application>Microsoft Office PowerPoint</Application>
  <PresentationFormat>Widescreen</PresentationFormat>
  <Paragraphs>94</Paragraphs>
  <Slides>11</Slides>
  <Notes>6</Notes>
  <HiddenSlides>1</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11</vt:i4>
      </vt:variant>
    </vt:vector>
  </HeadingPairs>
  <TitlesOfParts>
    <vt:vector size="25" baseType="lpstr">
      <vt:lpstr>Acumin Pro Black</vt:lpstr>
      <vt:lpstr>Aptos</vt:lpstr>
      <vt:lpstr>Aptos Display</vt:lpstr>
      <vt:lpstr>Arial</vt:lpstr>
      <vt:lpstr>Calibri</vt:lpstr>
      <vt:lpstr>Segoe UI</vt:lpstr>
      <vt:lpstr>Segoe UI Light</vt:lpstr>
      <vt:lpstr>Stencil</vt:lpstr>
      <vt:lpstr>Wingdings</vt:lpstr>
      <vt:lpstr>Title</vt:lpstr>
      <vt:lpstr>Blank</vt:lpstr>
      <vt:lpstr>Speaker's slide</vt:lpstr>
      <vt:lpstr>Content</vt:lpstr>
      <vt:lpstr>Sponsor slide</vt:lpstr>
      <vt:lpstr>README</vt:lpstr>
      <vt:lpstr>Next Up:</vt:lpstr>
      <vt:lpstr>3</vt:lpstr>
      <vt:lpstr>2</vt:lpstr>
      <vt:lpstr>1</vt:lpstr>
      <vt:lpstr>What’s new in PowerShell Universal? 2026 Edition</vt:lpstr>
      <vt:lpstr>PowerPoint Presentation</vt:lpstr>
      <vt:lpstr>What’s new since PSConfEU 2025?</vt:lpstr>
      <vt:lpstr>What’s new in PSU 2026.2?</vt:lpstr>
      <vt:lpstr>Demos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Adam Driscoll</cp:lastModifiedBy>
  <cp:revision>24</cp:revision>
  <dcterms:created xsi:type="dcterms:W3CDTF">2024-03-26T13:08:23Z</dcterms:created>
  <dcterms:modified xsi:type="dcterms:W3CDTF">2026-06-08T14:47:06Z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